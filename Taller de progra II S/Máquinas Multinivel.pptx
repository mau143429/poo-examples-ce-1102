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gkEQjQ3LNa+VGzlLaSTi+Mw2j06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83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spTree>
      <p:nvGrpSpPr>
        <p:cNvPr id="1" name="Shape 22"/>
        <p:cNvGrpSpPr/>
        <p:nvPr/>
      </p:nvGrpSpPr>
      <p:grpSpPr>
        <a:xfrm>
          <a:off x="0" y="0"/>
          <a:ext cx="0" cy="0"/>
          <a:chOff x="0" y="0"/>
          <a:chExt cx="0" cy="0"/>
        </a:xfrm>
      </p:grpSpPr>
      <p:grpSp>
        <p:nvGrpSpPr>
          <p:cNvPr id="23" name="Google Shape;23;p16"/>
          <p:cNvGrpSpPr/>
          <p:nvPr/>
        </p:nvGrpSpPr>
        <p:grpSpPr>
          <a:xfrm>
            <a:off x="0" y="-8467"/>
            <a:ext cx="12192000" cy="6866467"/>
            <a:chOff x="0" y="-8467"/>
            <a:chExt cx="12192000" cy="6866467"/>
          </a:xfrm>
        </p:grpSpPr>
        <p:cxnSp>
          <p:nvCxnSpPr>
            <p:cNvPr id="24" name="Google Shape;24;p16"/>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25" name="Google Shape;25;p16"/>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26" name="Google Shape;26;p16"/>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27" name="Google Shape;27;p16"/>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8" name="Google Shape;28;p16"/>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16"/>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30" name="Google Shape;30;p16"/>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31" name="Google Shape;31;p16"/>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32" name="Google Shape;32;p16"/>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16"/>
            <p:cNvSpPr/>
            <p:nvPr/>
          </p:nvSpPr>
          <p:spPr>
            <a:xfrm rot="10800000">
              <a:off x="0" y="0"/>
              <a:ext cx="842596" cy="5666154"/>
            </a:xfrm>
            <a:prstGeom prst="triangle">
              <a:avLst>
                <a:gd name="adj" fmla="val 100000"/>
              </a:avLst>
            </a:pr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16"/>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6"/>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36" name="Google Shape;36;p1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9"/>
        <p:cNvGrpSpPr/>
        <p:nvPr/>
      </p:nvGrpSpPr>
      <p:grpSpPr>
        <a:xfrm>
          <a:off x="0" y="0"/>
          <a:ext cx="0" cy="0"/>
          <a:chOff x="0" y="0"/>
          <a:chExt cx="0" cy="0"/>
        </a:xfrm>
      </p:grpSpPr>
      <p:sp>
        <p:nvSpPr>
          <p:cNvPr id="40" name="Google Shape;40;p1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7"/>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42" name="Google Shape;42;p1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5"/>
        <p:cNvGrpSpPr/>
        <p:nvPr/>
      </p:nvGrpSpPr>
      <p:grpSpPr>
        <a:xfrm>
          <a:off x="0" y="0"/>
          <a:ext cx="0" cy="0"/>
          <a:chOff x="0" y="0"/>
          <a:chExt cx="0" cy="0"/>
        </a:xfrm>
      </p:grpSpPr>
      <p:sp>
        <p:nvSpPr>
          <p:cNvPr id="46" name="Google Shape;46;p18"/>
          <p:cNvSpPr txBox="1">
            <a:spLocks noGrp="1"/>
          </p:cNvSpPr>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48" name="Google Shape;48;p1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51"/>
        <p:cNvGrpSpPr/>
        <p:nvPr/>
      </p:nvGrpSpPr>
      <p:grpSpPr>
        <a:xfrm>
          <a:off x="0" y="0"/>
          <a:ext cx="0" cy="0"/>
          <a:chOff x="0" y="0"/>
          <a:chExt cx="0" cy="0"/>
        </a:xfrm>
      </p:grpSpPr>
      <p:sp>
        <p:nvSpPr>
          <p:cNvPr id="52" name="Google Shape;52;p1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4" name="Google Shape;54;p19"/>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5" name="Google Shape;55;p1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1" name="Google Shape;61;p20"/>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2" name="Google Shape;62;p20"/>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3" name="Google Shape;63;p20"/>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4" name="Google Shape;64;p2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7"/>
        <p:cNvGrpSpPr/>
        <p:nvPr/>
      </p:nvGrpSpPr>
      <p:grpSpPr>
        <a:xfrm>
          <a:off x="0" y="0"/>
          <a:ext cx="0" cy="0"/>
          <a:chOff x="0" y="0"/>
          <a:chExt cx="0" cy="0"/>
        </a:xfrm>
      </p:grpSpPr>
      <p:sp>
        <p:nvSpPr>
          <p:cNvPr id="68" name="Google Shape;68;p2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72"/>
        <p:cNvGrpSpPr/>
        <p:nvPr/>
      </p:nvGrpSpPr>
      <p:grpSpPr>
        <a:xfrm>
          <a:off x="0" y="0"/>
          <a:ext cx="0" cy="0"/>
          <a:chOff x="0" y="0"/>
          <a:chExt cx="0" cy="0"/>
        </a:xfrm>
      </p:grpSpPr>
      <p:sp>
        <p:nvSpPr>
          <p:cNvPr id="73" name="Google Shape;73;p2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76"/>
        <p:cNvGrpSpPr/>
        <p:nvPr/>
      </p:nvGrpSpPr>
      <p:grpSpPr>
        <a:xfrm>
          <a:off x="0" y="0"/>
          <a:ext cx="0" cy="0"/>
          <a:chOff x="0" y="0"/>
          <a:chExt cx="0" cy="0"/>
        </a:xfrm>
      </p:grpSpPr>
      <p:sp>
        <p:nvSpPr>
          <p:cNvPr id="77" name="Google Shape;77;p23"/>
          <p:cNvSpPr txBox="1">
            <a:spLocks noGrp="1"/>
          </p:cNvSpPr>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3"/>
          <p:cNvSpPr txBox="1">
            <a:spLocks noGrp="1"/>
          </p:cNvSpPr>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79" name="Google Shape;79;p23"/>
          <p:cNvSpPr txBox="1">
            <a:spLocks noGrp="1"/>
          </p:cNvSpPr>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80" name="Google Shape;80;p2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83"/>
        <p:cNvGrpSpPr/>
        <p:nvPr/>
      </p:nvGrpSpPr>
      <p:grpSpPr>
        <a:xfrm>
          <a:off x="0" y="0"/>
          <a:ext cx="0" cy="0"/>
          <a:chOff x="0" y="0"/>
          <a:chExt cx="0" cy="0"/>
        </a:xfrm>
      </p:grpSpPr>
      <p:sp>
        <p:nvSpPr>
          <p:cNvPr id="84" name="Google Shape;84;p24"/>
          <p:cNvSpPr txBox="1">
            <a:spLocks noGrp="1"/>
          </p:cNvSpPr>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4"/>
          <p:cNvSpPr>
            <a:spLocks noGrp="1"/>
          </p:cNvSpPr>
          <p:nvPr>
            <p:ph type="pic" idx="2"/>
          </p:nvPr>
        </p:nvSpPr>
        <p:spPr>
          <a:xfrm>
            <a:off x="677334" y="609600"/>
            <a:ext cx="8596668" cy="3845718"/>
          </a:xfrm>
          <a:prstGeom prst="rect">
            <a:avLst/>
          </a:prstGeom>
          <a:noFill/>
          <a:ln>
            <a:noFill/>
          </a:ln>
        </p:spPr>
        <p:txBody>
          <a:bodyPr spcFirstLastPara="1" wrap="square" lIns="91425" tIns="45700" rIns="91425" bIns="45700" anchor="t" anchorCtr="0">
            <a:normAutofit/>
          </a:bodyPr>
          <a:lstStyle>
            <a:lvl1pPr marR="0" lvl="0" algn="ctr"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1pPr>
            <a:lvl2pPr marR="0" lvl="1"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2pPr>
            <a:lvl3pPr marR="0" lvl="2"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3pPr>
            <a:lvl4pPr marR="0" lvl="3"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4pPr>
            <a:lvl5pPr marR="0" lvl="4"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5pPr>
            <a:lvl6pPr marR="0" lvl="5"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6pPr>
            <a:lvl7pPr marR="0" lvl="6"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7pPr>
            <a:lvl8pPr marR="0" lvl="7"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8pPr>
            <a:lvl9pPr marR="0" lvl="8"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9pPr>
          </a:lstStyle>
          <a:p>
            <a:endParaRPr/>
          </a:p>
        </p:txBody>
      </p:sp>
      <p:sp>
        <p:nvSpPr>
          <p:cNvPr id="86" name="Google Shape;86;p24"/>
          <p:cNvSpPr txBox="1">
            <a:spLocks noGrp="1"/>
          </p:cNvSpPr>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7" name="Google Shape;87;p2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descripción">
  <p:cSld name="Título y descripción">
    <p:spTree>
      <p:nvGrpSpPr>
        <p:cNvPr id="1" name="Shape 90"/>
        <p:cNvGrpSpPr/>
        <p:nvPr/>
      </p:nvGrpSpPr>
      <p:grpSpPr>
        <a:xfrm>
          <a:off x="0" y="0"/>
          <a:ext cx="0" cy="0"/>
          <a:chOff x="0" y="0"/>
          <a:chExt cx="0" cy="0"/>
        </a:xfrm>
      </p:grpSpPr>
      <p:sp>
        <p:nvSpPr>
          <p:cNvPr id="91" name="Google Shape;91;p25"/>
          <p:cNvSpPr txBox="1">
            <a:spLocks noGrp="1"/>
          </p:cNvSpPr>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5"/>
          <p:cNvSpPr txBox="1">
            <a:spLocks noGrp="1"/>
          </p:cNvSpPr>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93" name="Google Shape;93;p2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ita con descripción">
  <p:cSld name="Cita con descripción">
    <p:spTree>
      <p:nvGrpSpPr>
        <p:cNvPr id="1" name="Shape 96"/>
        <p:cNvGrpSpPr/>
        <p:nvPr/>
      </p:nvGrpSpPr>
      <p:grpSpPr>
        <a:xfrm>
          <a:off x="0" y="0"/>
          <a:ext cx="0" cy="0"/>
          <a:chOff x="0" y="0"/>
          <a:chExt cx="0" cy="0"/>
        </a:xfrm>
      </p:grpSpPr>
      <p:sp>
        <p:nvSpPr>
          <p:cNvPr id="97" name="Google Shape;97;p26"/>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6"/>
          <p:cNvSpPr txBox="1">
            <a:spLocks noGrp="1"/>
          </p:cNvSpPr>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a:buNone/>
              <a:defRPr sz="1600">
                <a:solidFill>
                  <a:srgbClr val="7F7F7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99" name="Google Shape;99;p26"/>
          <p:cNvSpPr txBox="1">
            <a:spLocks noGrp="1"/>
          </p:cNvSpPr>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0" name="Google Shape;100;p2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2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R"/>
              <a:t>‹Nº›</a:t>
            </a:fld>
            <a:endParaRPr/>
          </a:p>
        </p:txBody>
      </p:sp>
      <p:sp>
        <p:nvSpPr>
          <p:cNvPr id="103" name="Google Shape;103;p26"/>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s-CR" sz="8000" b="0" i="0" u="none" strike="noStrike" cap="none">
                <a:solidFill>
                  <a:srgbClr val="BFE471"/>
                </a:solidFill>
                <a:latin typeface="Arial"/>
                <a:ea typeface="Arial"/>
                <a:cs typeface="Arial"/>
                <a:sym typeface="Arial"/>
              </a:rPr>
              <a:t>“</a:t>
            </a:r>
            <a:endParaRPr/>
          </a:p>
        </p:txBody>
      </p:sp>
      <p:sp>
        <p:nvSpPr>
          <p:cNvPr id="104" name="Google Shape;104;p26"/>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s-CR" sz="8000" b="0" i="0" u="none" strike="noStrike" cap="none">
                <a:solidFill>
                  <a:srgbClr val="BFE471"/>
                </a:solidFill>
                <a:latin typeface="Arial"/>
                <a:ea typeface="Arial"/>
                <a:cs typeface="Arial"/>
                <a:sym typeface="Arial"/>
              </a:rPr>
              <a:t>”</a:t>
            </a:r>
            <a:endParaRPr sz="1800" b="0" i="0" u="none" strike="noStrike" cap="none">
              <a:solidFill>
                <a:srgbClr val="BFE47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rjeta de nombre">
  <p:cSld name="Tarjeta de nombre">
    <p:spTree>
      <p:nvGrpSpPr>
        <p:cNvPr id="1" name="Shape 105"/>
        <p:cNvGrpSpPr/>
        <p:nvPr/>
      </p:nvGrpSpPr>
      <p:grpSpPr>
        <a:xfrm>
          <a:off x="0" y="0"/>
          <a:ext cx="0" cy="0"/>
          <a:chOff x="0" y="0"/>
          <a:chExt cx="0" cy="0"/>
        </a:xfrm>
      </p:grpSpPr>
      <p:sp>
        <p:nvSpPr>
          <p:cNvPr id="106" name="Google Shape;106;p27"/>
          <p:cNvSpPr txBox="1">
            <a:spLocks noGrp="1"/>
          </p:cNvSpPr>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7"/>
          <p:cNvSpPr txBox="1">
            <a:spLocks noGrp="1"/>
          </p:cNvSpPr>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8" name="Google Shape;108;p2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2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2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R"/>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itar la tarjeta de nombre">
  <p:cSld name="Citar la tarjeta de nombre">
    <p:spTree>
      <p:nvGrpSpPr>
        <p:cNvPr id="1" name="Shape 111"/>
        <p:cNvGrpSpPr/>
        <p:nvPr/>
      </p:nvGrpSpPr>
      <p:grpSpPr>
        <a:xfrm>
          <a:off x="0" y="0"/>
          <a:ext cx="0" cy="0"/>
          <a:chOff x="0" y="0"/>
          <a:chExt cx="0" cy="0"/>
        </a:xfrm>
      </p:grpSpPr>
      <p:sp>
        <p:nvSpPr>
          <p:cNvPr id="112" name="Google Shape;112;p28"/>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8"/>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rgbClr val="3F3F3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4" name="Google Shape;114;p28"/>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5" name="Google Shape;115;p2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2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R"/>
              <a:t>‹Nº›</a:t>
            </a:fld>
            <a:endParaRPr/>
          </a:p>
        </p:txBody>
      </p:sp>
      <p:sp>
        <p:nvSpPr>
          <p:cNvPr id="118" name="Google Shape;118;p28"/>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s-CR" sz="8000" b="0" i="0" u="none" strike="noStrike" cap="none">
                <a:solidFill>
                  <a:srgbClr val="BFE471"/>
                </a:solidFill>
                <a:latin typeface="Arial"/>
                <a:ea typeface="Arial"/>
                <a:cs typeface="Arial"/>
                <a:sym typeface="Arial"/>
              </a:rPr>
              <a:t>“</a:t>
            </a:r>
            <a:endParaRPr/>
          </a:p>
        </p:txBody>
      </p:sp>
      <p:sp>
        <p:nvSpPr>
          <p:cNvPr id="119" name="Google Shape;119;p28"/>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s-CR" sz="8000" b="0" i="0" u="none" strike="noStrike" cap="none">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dadero o falso">
  <p:cSld name="Verdadero o falso">
    <p:spTree>
      <p:nvGrpSpPr>
        <p:cNvPr id="1" name="Shape 120"/>
        <p:cNvGrpSpPr/>
        <p:nvPr/>
      </p:nvGrpSpPr>
      <p:grpSpPr>
        <a:xfrm>
          <a:off x="0" y="0"/>
          <a:ext cx="0" cy="0"/>
          <a:chOff x="0" y="0"/>
          <a:chExt cx="0" cy="0"/>
        </a:xfrm>
      </p:grpSpPr>
      <p:sp>
        <p:nvSpPr>
          <p:cNvPr id="121" name="Google Shape;121;p29"/>
          <p:cNvSpPr txBox="1">
            <a:spLocks noGrp="1"/>
          </p:cNvSpPr>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9"/>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chemeClr val="accent1"/>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3" name="Google Shape;123;p29"/>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24" name="Google Shape;124;p2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2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2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R"/>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27"/>
        <p:cNvGrpSpPr/>
        <p:nvPr/>
      </p:nvGrpSpPr>
      <p:grpSpPr>
        <a:xfrm>
          <a:off x="0" y="0"/>
          <a:ext cx="0" cy="0"/>
          <a:chOff x="0" y="0"/>
          <a:chExt cx="0" cy="0"/>
        </a:xfrm>
      </p:grpSpPr>
      <p:sp>
        <p:nvSpPr>
          <p:cNvPr id="128" name="Google Shape;128;p3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30"/>
          <p:cNvSpPr txBox="1">
            <a:spLocks noGrp="1"/>
          </p:cNvSpPr>
          <p:nvPr>
            <p:ph type="body" idx="1"/>
          </p:nvPr>
        </p:nvSpPr>
        <p:spPr>
          <a:xfrm rot="5400000">
            <a:off x="3035282"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0" name="Google Shape;130;p3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3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3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R"/>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33"/>
        <p:cNvGrpSpPr/>
        <p:nvPr/>
      </p:nvGrpSpPr>
      <p:grpSpPr>
        <a:xfrm>
          <a:off x="0" y="0"/>
          <a:ext cx="0" cy="0"/>
          <a:chOff x="0" y="0"/>
          <a:chExt cx="0" cy="0"/>
        </a:xfrm>
      </p:grpSpPr>
      <p:sp>
        <p:nvSpPr>
          <p:cNvPr id="134" name="Google Shape;134;p31"/>
          <p:cNvSpPr txBox="1">
            <a:spLocks noGrp="1"/>
          </p:cNvSpPr>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31"/>
          <p:cNvSpPr txBox="1">
            <a:spLocks noGrp="1"/>
          </p:cNvSpPr>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6" name="Google Shape;136;p3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3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3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grpSp>
        <p:nvGrpSpPr>
          <p:cNvPr id="6" name="Google Shape;6;p15"/>
          <p:cNvGrpSpPr/>
          <p:nvPr/>
        </p:nvGrpSpPr>
        <p:grpSpPr>
          <a:xfrm>
            <a:off x="0" y="-8467"/>
            <a:ext cx="12192000" cy="6866467"/>
            <a:chOff x="0" y="-8467"/>
            <a:chExt cx="12192000" cy="6866467"/>
          </a:xfrm>
        </p:grpSpPr>
        <p:cxnSp>
          <p:nvCxnSpPr>
            <p:cNvPr id="7" name="Google Shape;7;p15"/>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8" name="Google Shape;8;p15"/>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9" name="Google Shape;9;p15"/>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10" name="Google Shape;10;p15"/>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15"/>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5"/>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13" name="Google Shape;13;p15"/>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14" name="Google Shape;14;p15"/>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15" name="Google Shape;15;p15"/>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5"/>
            <p:cNvSpPr/>
            <p:nvPr/>
          </p:nvSpPr>
          <p:spPr>
            <a:xfrm>
              <a:off x="0" y="4013200"/>
              <a:ext cx="448733" cy="2844800"/>
            </a:xfrm>
            <a:prstGeom prst="triangle">
              <a:avLst>
                <a:gd name="adj" fmla="val 0"/>
              </a:avLst>
            </a:pr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1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8" name="Google Shape;18;p15"/>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19" name="Google Shape;19;p1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0" name="Google Shape;20;p1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1" name="Google Shape;21;p1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s-C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
          <p:cNvSpPr txBox="1">
            <a:spLocks noGrp="1"/>
          </p:cNvSpPr>
          <p:nvPr>
            <p:ph type="ctrTitle"/>
          </p:nvPr>
        </p:nvSpPr>
        <p:spPr>
          <a:xfrm>
            <a:off x="-341052" y="143312"/>
            <a:ext cx="7556039" cy="159858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accent1"/>
              </a:buClr>
              <a:buSzPts val="5400"/>
              <a:buFont typeface="Trebuchet MS"/>
              <a:buNone/>
            </a:pPr>
            <a:r>
              <a:rPr lang="es-CR"/>
              <a:t>Máquinas Multinivel</a:t>
            </a:r>
            <a:endParaRPr/>
          </a:p>
        </p:txBody>
      </p:sp>
      <p:sp>
        <p:nvSpPr>
          <p:cNvPr id="144" name="Google Shape;144;p1"/>
          <p:cNvSpPr txBox="1">
            <a:spLocks noGrp="1"/>
          </p:cNvSpPr>
          <p:nvPr>
            <p:ph type="subTitle" idx="1"/>
          </p:nvPr>
        </p:nvSpPr>
        <p:spPr>
          <a:xfrm>
            <a:off x="3436968" y="4722014"/>
            <a:ext cx="5948912" cy="686568"/>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SzPts val="1332"/>
              <a:buNone/>
            </a:pPr>
            <a:r>
              <a:rPr lang="es-CR" sz="1665">
                <a:solidFill>
                  <a:schemeClr val="dk1"/>
                </a:solidFill>
              </a:rPr>
              <a:t>Kevin Arias Sancho 2019209063</a:t>
            </a:r>
            <a:endParaRPr/>
          </a:p>
          <a:p>
            <a:pPr marL="0" lvl="0" indent="0" algn="r" rtl="0">
              <a:lnSpc>
                <a:spcPct val="90000"/>
              </a:lnSpc>
              <a:spcBef>
                <a:spcPts val="1000"/>
              </a:spcBef>
              <a:spcAft>
                <a:spcPts val="0"/>
              </a:spcAft>
              <a:buSzPts val="1332"/>
              <a:buNone/>
            </a:pPr>
            <a:r>
              <a:rPr lang="es-CR" sz="1665">
                <a:solidFill>
                  <a:schemeClr val="dk1"/>
                </a:solidFill>
              </a:rPr>
              <a:t>Mauricio Calderon Chavarría 2019182667</a:t>
            </a:r>
            <a:endParaRPr/>
          </a:p>
          <a:p>
            <a:pPr marL="0" lvl="0" indent="0" algn="r" rtl="0">
              <a:lnSpc>
                <a:spcPct val="90000"/>
              </a:lnSpc>
              <a:spcBef>
                <a:spcPts val="1000"/>
              </a:spcBef>
              <a:spcAft>
                <a:spcPts val="0"/>
              </a:spcAft>
              <a:buSzPts val="1332"/>
              <a:buNone/>
            </a:pPr>
            <a:endParaRPr sz="1665">
              <a:solidFill>
                <a:schemeClr val="dk1"/>
              </a:solidFill>
            </a:endParaRPr>
          </a:p>
          <a:p>
            <a:pPr marL="0" lvl="0" indent="0" algn="r" rtl="0">
              <a:lnSpc>
                <a:spcPct val="90000"/>
              </a:lnSpc>
              <a:spcBef>
                <a:spcPts val="1000"/>
              </a:spcBef>
              <a:spcAft>
                <a:spcPts val="0"/>
              </a:spcAft>
              <a:buSzPts val="1332"/>
              <a:buNone/>
            </a:pPr>
            <a:endParaRPr sz="1665"/>
          </a:p>
        </p:txBody>
      </p:sp>
      <p:pic>
        <p:nvPicPr>
          <p:cNvPr id="145" name="Google Shape;145;p1"/>
          <p:cNvPicPr preferRelativeResize="0"/>
          <p:nvPr/>
        </p:nvPicPr>
        <p:blipFill rotWithShape="1">
          <a:blip r:embed="rId3">
            <a:alphaModFix/>
          </a:blip>
          <a:srcRect/>
          <a:stretch/>
        </p:blipFill>
        <p:spPr>
          <a:xfrm>
            <a:off x="207818" y="5962626"/>
            <a:ext cx="3981152" cy="752062"/>
          </a:xfrm>
          <a:prstGeom prst="rect">
            <a:avLst/>
          </a:prstGeom>
          <a:noFill/>
          <a:ln>
            <a:noFill/>
          </a:ln>
        </p:spPr>
      </p:pic>
      <p:pic>
        <p:nvPicPr>
          <p:cNvPr id="146" name="Google Shape;146;p1"/>
          <p:cNvPicPr preferRelativeResize="0"/>
          <p:nvPr/>
        </p:nvPicPr>
        <p:blipFill rotWithShape="1">
          <a:blip r:embed="rId4">
            <a:alphaModFix/>
          </a:blip>
          <a:srcRect/>
          <a:stretch/>
        </p:blipFill>
        <p:spPr>
          <a:xfrm>
            <a:off x="1432040" y="2205044"/>
            <a:ext cx="4330917" cy="2447911"/>
          </a:xfrm>
          <a:prstGeom prst="rect">
            <a:avLst/>
          </a:prstGeom>
          <a:noFill/>
          <a:ln>
            <a:noFill/>
          </a:ln>
        </p:spPr>
      </p:pic>
    </p:spTree>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accent1"/>
              </a:buClr>
              <a:buSzPts val="3600"/>
              <a:buFont typeface="Trebuchet MS"/>
              <a:buNone/>
            </a:pPr>
            <a:r>
              <a:rPr lang="es-CR"/>
              <a:t>¿Que es una maquina virtual?</a:t>
            </a:r>
            <a:endParaRPr/>
          </a:p>
        </p:txBody>
      </p:sp>
      <p:sp>
        <p:nvSpPr>
          <p:cNvPr id="152" name="Google Shape;152;p2"/>
          <p:cNvSpPr txBox="1">
            <a:spLocks noGrp="1"/>
          </p:cNvSpPr>
          <p:nvPr>
            <p:ph type="body" idx="1"/>
          </p:nvPr>
        </p:nvSpPr>
        <p:spPr>
          <a:xfrm>
            <a:off x="275553" y="1488613"/>
            <a:ext cx="8596668" cy="3880773"/>
          </a:xfrm>
          <a:prstGeom prst="rect">
            <a:avLst/>
          </a:prstGeom>
          <a:noFill/>
          <a:ln>
            <a:noFill/>
          </a:ln>
        </p:spPr>
        <p:txBody>
          <a:bodyPr spcFirstLastPara="1" wrap="square" lIns="91425" tIns="45700" rIns="91425" bIns="45700" anchor="t" anchorCtr="0">
            <a:normAutofit/>
          </a:bodyPr>
          <a:lstStyle/>
          <a:p>
            <a:pPr marL="742950" lvl="1" indent="-285750" algn="just" rtl="0">
              <a:spcBef>
                <a:spcPts val="0"/>
              </a:spcBef>
              <a:spcAft>
                <a:spcPts val="0"/>
              </a:spcAft>
              <a:buSzPts val="1440"/>
              <a:buChar char="►"/>
            </a:pPr>
            <a:r>
              <a:rPr lang="es-CR" sz="1800"/>
              <a:t>Es una computadora digital que permite resolver problemas utilizando instrucciones enviadas por las personas mediante un lenguaje que la maquina logre comprender.</a:t>
            </a:r>
            <a:endParaRPr/>
          </a:p>
        </p:txBody>
      </p:sp>
      <p:pic>
        <p:nvPicPr>
          <p:cNvPr id="153" name="Google Shape;153;p2"/>
          <p:cNvPicPr preferRelativeResize="0"/>
          <p:nvPr/>
        </p:nvPicPr>
        <p:blipFill rotWithShape="1">
          <a:blip r:embed="rId3">
            <a:alphaModFix/>
          </a:blip>
          <a:srcRect/>
          <a:stretch/>
        </p:blipFill>
        <p:spPr>
          <a:xfrm>
            <a:off x="5238134" y="3122783"/>
            <a:ext cx="3834978" cy="2876234"/>
          </a:xfrm>
          <a:prstGeom prst="rect">
            <a:avLst/>
          </a:prstGeom>
          <a:noFill/>
          <a:ln>
            <a:noFill/>
          </a:ln>
        </p:spPr>
      </p:pic>
      <p:pic>
        <p:nvPicPr>
          <p:cNvPr id="154" name="Google Shape;154;p2"/>
          <p:cNvPicPr preferRelativeResize="0"/>
          <p:nvPr/>
        </p:nvPicPr>
        <p:blipFill rotWithShape="1">
          <a:blip r:embed="rId4">
            <a:alphaModFix/>
          </a:blip>
          <a:srcRect/>
          <a:stretch/>
        </p:blipFill>
        <p:spPr>
          <a:xfrm>
            <a:off x="1202469" y="3122783"/>
            <a:ext cx="3371418" cy="287623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200">
        <p:fade thruBlk="1"/>
      </p:transition>
    </mc:Choice>
    <mc:Fallback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
          <p:cNvSpPr txBox="1">
            <a:spLocks noGrp="1"/>
          </p:cNvSpPr>
          <p:nvPr>
            <p:ph type="title"/>
          </p:nvPr>
        </p:nvSpPr>
        <p:spPr>
          <a:xfrm>
            <a:off x="788170" y="554182"/>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CR"/>
              <a:t>Problemática con las máquinas virtuales</a:t>
            </a:r>
            <a:endParaRPr/>
          </a:p>
        </p:txBody>
      </p:sp>
      <p:sp>
        <p:nvSpPr>
          <p:cNvPr id="160" name="Google Shape;160;p3"/>
          <p:cNvSpPr txBox="1">
            <a:spLocks noGrp="1"/>
          </p:cNvSpPr>
          <p:nvPr>
            <p:ph type="body" idx="1"/>
          </p:nvPr>
        </p:nvSpPr>
        <p:spPr>
          <a:xfrm>
            <a:off x="207818" y="1578699"/>
            <a:ext cx="9448801" cy="2245156"/>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SzPts val="1440"/>
              <a:buChar char="►"/>
            </a:pPr>
            <a:r>
              <a:rPr lang="es-CR"/>
              <a:t>Luego ya conociendo que es una máquina virtual podemos conocer un problema que se daba con las mismas ya que los computadores pueden ejecutar programas escritos en lenguaje de maquina sin embargo para un programador es más complejo utilizarlo.</a:t>
            </a:r>
            <a:endParaRPr/>
          </a:p>
        </p:txBody>
      </p:sp>
      <p:pic>
        <p:nvPicPr>
          <p:cNvPr id="161" name="Google Shape;161;p3"/>
          <p:cNvPicPr preferRelativeResize="0"/>
          <p:nvPr/>
        </p:nvPicPr>
        <p:blipFill rotWithShape="1">
          <a:blip r:embed="rId3">
            <a:alphaModFix/>
          </a:blip>
          <a:srcRect/>
          <a:stretch/>
        </p:blipFill>
        <p:spPr>
          <a:xfrm rot="747862">
            <a:off x="905146" y="3220299"/>
            <a:ext cx="1127858" cy="1207113"/>
          </a:xfrm>
          <a:prstGeom prst="rect">
            <a:avLst/>
          </a:prstGeom>
          <a:noFill/>
          <a:ln>
            <a:noFill/>
          </a:ln>
        </p:spPr>
      </p:pic>
      <p:pic>
        <p:nvPicPr>
          <p:cNvPr id="162" name="Google Shape;162;p3"/>
          <p:cNvPicPr preferRelativeResize="0"/>
          <p:nvPr/>
        </p:nvPicPr>
        <p:blipFill rotWithShape="1">
          <a:blip r:embed="rId4">
            <a:alphaModFix/>
          </a:blip>
          <a:srcRect/>
          <a:stretch/>
        </p:blipFill>
        <p:spPr>
          <a:xfrm rot="-1618884">
            <a:off x="499487" y="4471608"/>
            <a:ext cx="1932599" cy="1932599"/>
          </a:xfrm>
          <a:prstGeom prst="rect">
            <a:avLst/>
          </a:prstGeom>
          <a:noFill/>
          <a:ln>
            <a:noFill/>
          </a:ln>
        </p:spPr>
      </p:pic>
      <p:pic>
        <p:nvPicPr>
          <p:cNvPr id="163" name="Google Shape;163;p3"/>
          <p:cNvPicPr preferRelativeResize="0"/>
          <p:nvPr/>
        </p:nvPicPr>
        <p:blipFill rotWithShape="1">
          <a:blip r:embed="rId5">
            <a:alphaModFix/>
          </a:blip>
          <a:srcRect/>
          <a:stretch/>
        </p:blipFill>
        <p:spPr>
          <a:xfrm rot="1078705">
            <a:off x="1267165" y="3647844"/>
            <a:ext cx="2926334" cy="2078916"/>
          </a:xfrm>
          <a:prstGeom prst="rect">
            <a:avLst/>
          </a:prstGeom>
          <a:noFill/>
          <a:ln>
            <a:noFill/>
          </a:ln>
        </p:spPr>
      </p:pic>
      <p:pic>
        <p:nvPicPr>
          <p:cNvPr id="164" name="Google Shape;164;p3"/>
          <p:cNvPicPr preferRelativeResize="0"/>
          <p:nvPr/>
        </p:nvPicPr>
        <p:blipFill rotWithShape="1">
          <a:blip r:embed="rId6">
            <a:alphaModFix/>
          </a:blip>
          <a:srcRect/>
          <a:stretch/>
        </p:blipFill>
        <p:spPr>
          <a:xfrm>
            <a:off x="4360125" y="4113933"/>
            <a:ext cx="2339662" cy="1169831"/>
          </a:xfrm>
          <a:prstGeom prst="rect">
            <a:avLst/>
          </a:prstGeom>
          <a:noFill/>
          <a:ln>
            <a:noFill/>
          </a:ln>
        </p:spPr>
      </p:pic>
      <p:pic>
        <p:nvPicPr>
          <p:cNvPr id="165" name="Google Shape;165;p3"/>
          <p:cNvPicPr preferRelativeResize="0"/>
          <p:nvPr/>
        </p:nvPicPr>
        <p:blipFill rotWithShape="1">
          <a:blip r:embed="rId7">
            <a:alphaModFix/>
          </a:blip>
          <a:srcRect/>
          <a:stretch/>
        </p:blipFill>
        <p:spPr>
          <a:xfrm>
            <a:off x="4597699" y="3918560"/>
            <a:ext cx="1560579" cy="1560579"/>
          </a:xfrm>
          <a:prstGeom prst="rect">
            <a:avLst/>
          </a:prstGeom>
          <a:noFill/>
          <a:ln>
            <a:noFill/>
          </a:ln>
        </p:spPr>
      </p:pic>
      <p:pic>
        <p:nvPicPr>
          <p:cNvPr id="166" name="Google Shape;166;p3"/>
          <p:cNvPicPr preferRelativeResize="0"/>
          <p:nvPr/>
        </p:nvPicPr>
        <p:blipFill rotWithShape="1">
          <a:blip r:embed="rId8">
            <a:alphaModFix/>
          </a:blip>
          <a:srcRect/>
          <a:stretch/>
        </p:blipFill>
        <p:spPr>
          <a:xfrm>
            <a:off x="6878955" y="3259552"/>
            <a:ext cx="2561346" cy="2561346"/>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4"/>
          <p:cNvSpPr txBox="1">
            <a:spLocks noGrp="1"/>
          </p:cNvSpPr>
          <p:nvPr>
            <p:ph type="title"/>
          </p:nvPr>
        </p:nvSpPr>
        <p:spPr>
          <a:xfrm>
            <a:off x="1342352" y="401001"/>
            <a:ext cx="8596668" cy="83127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CR"/>
              <a:t>Creación de estructura nivelada</a:t>
            </a:r>
            <a:endParaRPr/>
          </a:p>
        </p:txBody>
      </p:sp>
      <p:sp>
        <p:nvSpPr>
          <p:cNvPr id="172" name="Google Shape;172;p4"/>
          <p:cNvSpPr txBox="1">
            <a:spLocks noGrp="1"/>
          </p:cNvSpPr>
          <p:nvPr>
            <p:ph type="body" idx="1"/>
          </p:nvPr>
        </p:nvSpPr>
        <p:spPr>
          <a:xfrm>
            <a:off x="-110836" y="1488613"/>
            <a:ext cx="9774304" cy="3880773"/>
          </a:xfrm>
          <a:prstGeom prst="rect">
            <a:avLst/>
          </a:prstGeom>
          <a:noFill/>
          <a:ln>
            <a:noFill/>
          </a:ln>
        </p:spPr>
        <p:txBody>
          <a:bodyPr spcFirstLastPara="1" wrap="square" lIns="91425" tIns="45700" rIns="91425" bIns="45700" anchor="t" anchorCtr="0">
            <a:normAutofit/>
          </a:bodyPr>
          <a:lstStyle/>
          <a:p>
            <a:pPr marL="742950" lvl="1" indent="-285750" algn="just" rtl="0">
              <a:spcBef>
                <a:spcPts val="0"/>
              </a:spcBef>
              <a:spcAft>
                <a:spcPts val="0"/>
              </a:spcAft>
              <a:buSzPts val="1440"/>
              <a:buChar char="►"/>
            </a:pPr>
            <a:r>
              <a:rPr lang="es-CR" sz="1800"/>
              <a:t>Para dar solución al problema lo que se hace es pensar en la creación de una estructura de niveles en el computador que le permita tanto al programador a la hora de hacer un programa como al computador de entenderlo y ejecutarlo fácilmente.</a:t>
            </a:r>
            <a:endParaRPr/>
          </a:p>
        </p:txBody>
      </p:sp>
      <p:pic>
        <p:nvPicPr>
          <p:cNvPr id="173" name="Google Shape;173;p4"/>
          <p:cNvPicPr preferRelativeResize="0"/>
          <p:nvPr/>
        </p:nvPicPr>
        <p:blipFill rotWithShape="1">
          <a:blip r:embed="rId3">
            <a:alphaModFix/>
          </a:blip>
          <a:srcRect/>
          <a:stretch/>
        </p:blipFill>
        <p:spPr>
          <a:xfrm>
            <a:off x="609599" y="3216481"/>
            <a:ext cx="1098447" cy="1147485"/>
          </a:xfrm>
          <a:prstGeom prst="rect">
            <a:avLst/>
          </a:prstGeom>
          <a:noFill/>
          <a:ln>
            <a:noFill/>
          </a:ln>
        </p:spPr>
      </p:pic>
      <p:pic>
        <p:nvPicPr>
          <p:cNvPr id="174" name="Google Shape;174;p4"/>
          <p:cNvPicPr preferRelativeResize="0"/>
          <p:nvPr/>
        </p:nvPicPr>
        <p:blipFill rotWithShape="1">
          <a:blip r:embed="rId4">
            <a:alphaModFix/>
          </a:blip>
          <a:srcRect/>
          <a:stretch/>
        </p:blipFill>
        <p:spPr>
          <a:xfrm>
            <a:off x="-83281" y="3790223"/>
            <a:ext cx="2484205" cy="2490022"/>
          </a:xfrm>
          <a:prstGeom prst="rect">
            <a:avLst/>
          </a:prstGeom>
          <a:noFill/>
          <a:ln>
            <a:noFill/>
          </a:ln>
        </p:spPr>
      </p:pic>
      <p:pic>
        <p:nvPicPr>
          <p:cNvPr id="175" name="Google Shape;175;p4"/>
          <p:cNvPicPr preferRelativeResize="0"/>
          <p:nvPr/>
        </p:nvPicPr>
        <p:blipFill rotWithShape="1">
          <a:blip r:embed="rId5">
            <a:alphaModFix/>
          </a:blip>
          <a:srcRect/>
          <a:stretch/>
        </p:blipFill>
        <p:spPr>
          <a:xfrm>
            <a:off x="891236" y="3400508"/>
            <a:ext cx="2695300" cy="2269222"/>
          </a:xfrm>
          <a:prstGeom prst="rect">
            <a:avLst/>
          </a:prstGeom>
          <a:noFill/>
          <a:ln>
            <a:noFill/>
          </a:ln>
        </p:spPr>
      </p:pic>
      <p:pic>
        <p:nvPicPr>
          <p:cNvPr id="176" name="Google Shape;176;p4"/>
          <p:cNvPicPr preferRelativeResize="0"/>
          <p:nvPr/>
        </p:nvPicPr>
        <p:blipFill rotWithShape="1">
          <a:blip r:embed="rId6">
            <a:alphaModFix/>
          </a:blip>
          <a:srcRect/>
          <a:stretch/>
        </p:blipFill>
        <p:spPr>
          <a:xfrm>
            <a:off x="3030258" y="3949852"/>
            <a:ext cx="2341067" cy="1170533"/>
          </a:xfrm>
          <a:prstGeom prst="rect">
            <a:avLst/>
          </a:prstGeom>
          <a:noFill/>
          <a:ln>
            <a:noFill/>
          </a:ln>
        </p:spPr>
      </p:pic>
      <p:pic>
        <p:nvPicPr>
          <p:cNvPr id="177" name="Google Shape;177;p4"/>
          <p:cNvPicPr preferRelativeResize="0"/>
          <p:nvPr/>
        </p:nvPicPr>
        <p:blipFill rotWithShape="1">
          <a:blip r:embed="rId7">
            <a:alphaModFix/>
          </a:blip>
          <a:srcRect/>
          <a:stretch/>
        </p:blipFill>
        <p:spPr>
          <a:xfrm>
            <a:off x="5581560" y="3437632"/>
            <a:ext cx="2086883" cy="2081926"/>
          </a:xfrm>
          <a:prstGeom prst="rect">
            <a:avLst/>
          </a:prstGeom>
          <a:noFill/>
          <a:ln>
            <a:noFill/>
          </a:ln>
        </p:spPr>
      </p:pic>
      <p:pic>
        <p:nvPicPr>
          <p:cNvPr id="178" name="Google Shape;178;p4"/>
          <p:cNvPicPr preferRelativeResize="0"/>
          <p:nvPr/>
        </p:nvPicPr>
        <p:blipFill rotWithShape="1">
          <a:blip r:embed="rId8">
            <a:alphaModFix/>
          </a:blip>
          <a:srcRect/>
          <a:stretch/>
        </p:blipFill>
        <p:spPr>
          <a:xfrm>
            <a:off x="8034196" y="3451271"/>
            <a:ext cx="1656827" cy="1896527"/>
          </a:xfrm>
          <a:prstGeom prst="rect">
            <a:avLst/>
          </a:prstGeom>
          <a:noFill/>
          <a:ln>
            <a:noFill/>
          </a:ln>
        </p:spPr>
      </p:pic>
    </p:spTree>
  </p:cSld>
  <p:clrMapOvr>
    <a:masterClrMapping/>
  </p:clrMapOvr>
  <p:transition spd="slow">
    <p:wheel spokes="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accent1"/>
              </a:buClr>
              <a:buSzPts val="3600"/>
              <a:buFont typeface="Trebuchet MS"/>
              <a:buNone/>
            </a:pPr>
            <a:r>
              <a:rPr lang="es-CR"/>
              <a:t>Compilador e Intérprete </a:t>
            </a:r>
            <a:endParaRPr/>
          </a:p>
        </p:txBody>
      </p:sp>
      <p:sp>
        <p:nvSpPr>
          <p:cNvPr id="184" name="Google Shape;184;p5"/>
          <p:cNvSpPr txBox="1">
            <a:spLocks noGrp="1"/>
          </p:cNvSpPr>
          <p:nvPr>
            <p:ph type="body" idx="1"/>
          </p:nvPr>
        </p:nvSpPr>
        <p:spPr>
          <a:xfrm>
            <a:off x="511080" y="1488613"/>
            <a:ext cx="8596668" cy="388077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SzPts val="1440"/>
              <a:buChar char="►"/>
            </a:pPr>
            <a:r>
              <a:rPr lang="es-CR" dirty="0"/>
              <a:t>Compilador: Traduce toda las instrucciones a un lenguaje de más bajo nivel y luego de ser traducidas por completo las ejecuta.</a:t>
            </a:r>
            <a:endParaRPr dirty="0"/>
          </a:p>
          <a:p>
            <a:pPr marL="342900" lvl="0" indent="-342900" algn="just" rtl="0">
              <a:spcBef>
                <a:spcPts val="1000"/>
              </a:spcBef>
              <a:spcAft>
                <a:spcPts val="0"/>
              </a:spcAft>
              <a:buSzPts val="1440"/>
              <a:buChar char="►"/>
            </a:pPr>
            <a:r>
              <a:rPr lang="es-CR" dirty="0"/>
              <a:t>Intérprete: Traduce una por una las instrucciones a un lenguaje mas bajo, se diferencia del compilador ya que va una por una traduciendo y ejecutando.</a:t>
            </a:r>
            <a:endParaRPr dirty="0"/>
          </a:p>
        </p:txBody>
      </p:sp>
      <p:pic>
        <p:nvPicPr>
          <p:cNvPr id="185" name="Google Shape;185;p5"/>
          <p:cNvPicPr preferRelativeResize="0"/>
          <p:nvPr/>
        </p:nvPicPr>
        <p:blipFill rotWithShape="1">
          <a:blip r:embed="rId3">
            <a:alphaModFix/>
          </a:blip>
          <a:srcRect/>
          <a:stretch/>
        </p:blipFill>
        <p:spPr>
          <a:xfrm>
            <a:off x="857443" y="3106441"/>
            <a:ext cx="1365622" cy="1426588"/>
          </a:xfrm>
          <a:prstGeom prst="rect">
            <a:avLst/>
          </a:prstGeom>
          <a:noFill/>
          <a:ln>
            <a:noFill/>
          </a:ln>
        </p:spPr>
      </p:pic>
      <p:pic>
        <p:nvPicPr>
          <p:cNvPr id="186" name="Google Shape;186;p5"/>
          <p:cNvPicPr preferRelativeResize="0"/>
          <p:nvPr/>
        </p:nvPicPr>
        <p:blipFill rotWithShape="1">
          <a:blip r:embed="rId4">
            <a:alphaModFix/>
          </a:blip>
          <a:srcRect/>
          <a:stretch/>
        </p:blipFill>
        <p:spPr>
          <a:xfrm>
            <a:off x="1010791" y="3428999"/>
            <a:ext cx="3117273" cy="2624489"/>
          </a:xfrm>
          <a:prstGeom prst="rect">
            <a:avLst/>
          </a:prstGeom>
          <a:noFill/>
          <a:ln>
            <a:noFill/>
          </a:ln>
        </p:spPr>
      </p:pic>
      <p:pic>
        <p:nvPicPr>
          <p:cNvPr id="187" name="Google Shape;187;p5"/>
          <p:cNvPicPr preferRelativeResize="0"/>
          <p:nvPr/>
        </p:nvPicPr>
        <p:blipFill rotWithShape="1">
          <a:blip r:embed="rId5">
            <a:alphaModFix/>
          </a:blip>
          <a:srcRect/>
          <a:stretch/>
        </p:blipFill>
        <p:spPr>
          <a:xfrm>
            <a:off x="238645" y="4248686"/>
            <a:ext cx="2603218" cy="2609314"/>
          </a:xfrm>
          <a:prstGeom prst="rect">
            <a:avLst/>
          </a:prstGeom>
          <a:noFill/>
          <a:ln>
            <a:noFill/>
          </a:ln>
        </p:spPr>
      </p:pic>
      <p:pic>
        <p:nvPicPr>
          <p:cNvPr id="188" name="Google Shape;188;p5"/>
          <p:cNvPicPr preferRelativeResize="0"/>
          <p:nvPr/>
        </p:nvPicPr>
        <p:blipFill rotWithShape="1">
          <a:blip r:embed="rId6">
            <a:alphaModFix/>
          </a:blip>
          <a:srcRect/>
          <a:stretch/>
        </p:blipFill>
        <p:spPr>
          <a:xfrm>
            <a:off x="3943137" y="4155976"/>
            <a:ext cx="2341067" cy="1170533"/>
          </a:xfrm>
          <a:prstGeom prst="rect">
            <a:avLst/>
          </a:prstGeom>
          <a:noFill/>
          <a:ln>
            <a:noFill/>
          </a:ln>
        </p:spPr>
      </p:pic>
      <p:pic>
        <p:nvPicPr>
          <p:cNvPr id="189" name="Google Shape;189;p5"/>
          <p:cNvPicPr preferRelativeResize="0"/>
          <p:nvPr/>
        </p:nvPicPr>
        <p:blipFill rotWithShape="1">
          <a:blip r:embed="rId7">
            <a:alphaModFix/>
          </a:blip>
          <a:srcRect/>
          <a:stretch/>
        </p:blipFill>
        <p:spPr>
          <a:xfrm>
            <a:off x="6735871" y="3544295"/>
            <a:ext cx="2525225" cy="21553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250">
        <p14:flip dir="l"/>
      </p:transition>
    </mc:Choice>
    <mc:Fallback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6"/>
          <p:cNvSpPr txBox="1">
            <a:spLocks noGrp="1"/>
          </p:cNvSpPr>
          <p:nvPr>
            <p:ph type="title"/>
          </p:nvPr>
        </p:nvSpPr>
        <p:spPr>
          <a:xfrm>
            <a:off x="414096" y="415637"/>
            <a:ext cx="10337031"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200"/>
              <a:buFont typeface="Trebuchet MS"/>
              <a:buNone/>
            </a:pPr>
            <a:r>
              <a:rPr lang="es-CR" sz="3200"/>
              <a:t>Organización estructurada de una computadora</a:t>
            </a:r>
            <a:endParaRPr/>
          </a:p>
        </p:txBody>
      </p:sp>
      <p:sp>
        <p:nvSpPr>
          <p:cNvPr id="195" name="Google Shape;195;p6"/>
          <p:cNvSpPr txBox="1">
            <a:spLocks noGrp="1"/>
          </p:cNvSpPr>
          <p:nvPr>
            <p:ph type="body" idx="1"/>
          </p:nvPr>
        </p:nvSpPr>
        <p:spPr>
          <a:xfrm>
            <a:off x="538789" y="1250808"/>
            <a:ext cx="8596668" cy="485629"/>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s-CR"/>
              <a:t>Diferencias de comodidad de un programador y de una computadora</a:t>
            </a:r>
            <a:endParaRPr/>
          </a:p>
        </p:txBody>
      </p:sp>
      <p:pic>
        <p:nvPicPr>
          <p:cNvPr id="196" name="Google Shape;196;p6"/>
          <p:cNvPicPr preferRelativeResize="0"/>
          <p:nvPr/>
        </p:nvPicPr>
        <p:blipFill rotWithShape="1">
          <a:blip r:embed="rId3">
            <a:alphaModFix/>
          </a:blip>
          <a:srcRect/>
          <a:stretch/>
        </p:blipFill>
        <p:spPr>
          <a:xfrm>
            <a:off x="1613754" y="1736437"/>
            <a:ext cx="6483282" cy="495530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7"/>
          <p:cNvSpPr txBox="1">
            <a:spLocks noGrp="1"/>
          </p:cNvSpPr>
          <p:nvPr>
            <p:ph type="title"/>
          </p:nvPr>
        </p:nvSpPr>
        <p:spPr>
          <a:xfrm>
            <a:off x="815880" y="554182"/>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CR"/>
              <a:t>Organización de un computador actual</a:t>
            </a:r>
            <a:endParaRPr/>
          </a:p>
        </p:txBody>
      </p:sp>
      <p:pic>
        <p:nvPicPr>
          <p:cNvPr id="202" name="Google Shape;202;p7"/>
          <p:cNvPicPr preferRelativeResize="0"/>
          <p:nvPr/>
        </p:nvPicPr>
        <p:blipFill rotWithShape="1">
          <a:blip r:embed="rId3">
            <a:alphaModFix/>
          </a:blip>
          <a:srcRect/>
          <a:stretch/>
        </p:blipFill>
        <p:spPr>
          <a:xfrm>
            <a:off x="2582973" y="1380212"/>
            <a:ext cx="5339573" cy="510896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8"/>
          <p:cNvSpPr txBox="1">
            <a:spLocks noGrp="1"/>
          </p:cNvSpPr>
          <p:nvPr>
            <p:ph type="title"/>
          </p:nvPr>
        </p:nvSpPr>
        <p:spPr>
          <a:xfrm>
            <a:off x="995989" y="540328"/>
            <a:ext cx="8596800" cy="13209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CR" b="1" dirty="0"/>
              <a:t>Nivel 0 o nivel de lógica digital</a:t>
            </a:r>
            <a:br>
              <a:rPr lang="es-CR" dirty="0"/>
            </a:br>
            <a:endParaRPr dirty="0"/>
          </a:p>
        </p:txBody>
      </p:sp>
      <p:pic>
        <p:nvPicPr>
          <p:cNvPr id="208" name="Google Shape;208;p8"/>
          <p:cNvPicPr preferRelativeResize="0">
            <a:picLocks noGrp="1"/>
          </p:cNvPicPr>
          <p:nvPr>
            <p:ph type="body" idx="1"/>
          </p:nvPr>
        </p:nvPicPr>
        <p:blipFill rotWithShape="1">
          <a:blip r:embed="rId3">
            <a:alphaModFix/>
          </a:blip>
          <a:srcRect/>
          <a:stretch/>
        </p:blipFill>
        <p:spPr>
          <a:xfrm>
            <a:off x="1980150" y="3523825"/>
            <a:ext cx="6628500" cy="1662600"/>
          </a:xfrm>
          <a:prstGeom prst="rect">
            <a:avLst/>
          </a:prstGeom>
          <a:noFill/>
          <a:ln>
            <a:noFill/>
          </a:ln>
        </p:spPr>
      </p:pic>
      <p:sp>
        <p:nvSpPr>
          <p:cNvPr id="209" name="Google Shape;209;p8"/>
          <p:cNvSpPr txBox="1"/>
          <p:nvPr/>
        </p:nvSpPr>
        <p:spPr>
          <a:xfrm>
            <a:off x="843060" y="1522012"/>
            <a:ext cx="7898100" cy="1662600"/>
          </a:xfrm>
          <a:prstGeom prst="rect">
            <a:avLst/>
          </a:prstGeom>
          <a:noFill/>
          <a:ln>
            <a:noFill/>
          </a:ln>
        </p:spPr>
        <p:txBody>
          <a:bodyPr spcFirstLastPara="1" wrap="square" lIns="91425" tIns="91425" rIns="91425" bIns="91425" anchor="t" anchorCtr="0">
            <a:noAutofit/>
          </a:bodyPr>
          <a:lstStyle/>
          <a:p>
            <a:pPr marL="0" lvl="0" indent="457200" algn="just" rtl="0">
              <a:lnSpc>
                <a:spcPct val="150000"/>
              </a:lnSpc>
              <a:spcBef>
                <a:spcPts val="1200"/>
              </a:spcBef>
              <a:spcAft>
                <a:spcPts val="0"/>
              </a:spcAft>
              <a:buClr>
                <a:schemeClr val="dk1"/>
              </a:buClr>
              <a:buSzPts val="1100"/>
              <a:buFont typeface="Arial"/>
              <a:buNone/>
            </a:pPr>
            <a:r>
              <a:rPr lang="es-CR" sz="1800" dirty="0">
                <a:solidFill>
                  <a:schemeClr val="dk1"/>
                </a:solidFill>
                <a:latin typeface="Trebuchet MS"/>
                <a:ea typeface="Trebuchet MS"/>
                <a:cs typeface="Trebuchet MS"/>
                <a:sym typeface="Trebuchet MS"/>
              </a:rPr>
              <a:t>En este nivel los objetos integrantes se llaman compuertas, es la</a:t>
            </a:r>
            <a:endParaRPr sz="1800" dirty="0">
              <a:solidFill>
                <a:schemeClr val="dk1"/>
              </a:solidFill>
              <a:latin typeface="Trebuchet MS"/>
              <a:ea typeface="Trebuchet MS"/>
              <a:cs typeface="Trebuchet MS"/>
              <a:sym typeface="Trebuchet MS"/>
            </a:endParaRPr>
          </a:p>
          <a:p>
            <a:pPr marL="0" lvl="0" indent="457200" algn="just" rtl="0">
              <a:lnSpc>
                <a:spcPct val="150000"/>
              </a:lnSpc>
              <a:spcBef>
                <a:spcPts val="1200"/>
              </a:spcBef>
              <a:spcAft>
                <a:spcPts val="1200"/>
              </a:spcAft>
              <a:buClr>
                <a:schemeClr val="dk1"/>
              </a:buClr>
              <a:buSzPts val="1100"/>
              <a:buFont typeface="Arial"/>
              <a:buNone/>
            </a:pPr>
            <a:r>
              <a:rPr lang="es-CR" sz="1800" dirty="0">
                <a:solidFill>
                  <a:schemeClr val="dk1"/>
                </a:solidFill>
                <a:latin typeface="Trebuchet MS"/>
                <a:ea typeface="Trebuchet MS"/>
                <a:cs typeface="Trebuchet MS"/>
                <a:sym typeface="Trebuchet MS"/>
              </a:rPr>
              <a:t> conexión hardware - software</a:t>
            </a:r>
            <a:endParaRPr sz="1800" dirty="0">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slow" p14:dur="1250">
        <p14:flip dir="l"/>
      </p:transition>
    </mc:Choice>
    <mc:Fallback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CR" b="1"/>
              <a:t>Nivel 1 o Nivel de microprogramación</a:t>
            </a:r>
            <a:br>
              <a:rPr lang="es-CR" b="1"/>
            </a:br>
            <a:endParaRPr/>
          </a:p>
        </p:txBody>
      </p:sp>
      <p:pic>
        <p:nvPicPr>
          <p:cNvPr id="215" name="Google Shape;215;p9"/>
          <p:cNvPicPr preferRelativeResize="0">
            <a:picLocks noGrp="1"/>
          </p:cNvPicPr>
          <p:nvPr>
            <p:ph type="body" idx="1"/>
          </p:nvPr>
        </p:nvPicPr>
        <p:blipFill rotWithShape="1">
          <a:blip r:embed="rId3">
            <a:alphaModFix/>
          </a:blip>
          <a:srcRect/>
          <a:stretch/>
        </p:blipFill>
        <p:spPr>
          <a:xfrm>
            <a:off x="969375" y="3520100"/>
            <a:ext cx="8012700" cy="1589700"/>
          </a:xfrm>
          <a:prstGeom prst="rect">
            <a:avLst/>
          </a:prstGeom>
          <a:noFill/>
          <a:ln>
            <a:noFill/>
          </a:ln>
        </p:spPr>
      </p:pic>
      <p:sp>
        <p:nvSpPr>
          <p:cNvPr id="216" name="Google Shape;216;p9"/>
          <p:cNvSpPr txBox="1"/>
          <p:nvPr/>
        </p:nvSpPr>
        <p:spPr>
          <a:xfrm>
            <a:off x="969375" y="1839300"/>
            <a:ext cx="8596800" cy="158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CR" sz="1800" dirty="0">
                <a:latin typeface="Trebuchet MS"/>
                <a:ea typeface="Trebuchet MS"/>
                <a:cs typeface="Trebuchet MS"/>
                <a:sym typeface="Trebuchet MS"/>
              </a:rPr>
              <a:t> Nivel con un microprograma capaz de interpretar el lenguaje máquina </a:t>
            </a:r>
            <a:endParaRPr sz="1800" dirty="0">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slow" p14:dur="1600">
        <p14:prism/>
      </p:transition>
    </mc:Choice>
    <mc:Fallback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240"/>
              <a:buFont typeface="Trebuchet MS"/>
              <a:buNone/>
            </a:pPr>
            <a:r>
              <a:rPr lang="es-CR" sz="3240" b="1"/>
              <a:t>Nivel 2 o Nivel de máquina convencional</a:t>
            </a:r>
            <a:br>
              <a:rPr lang="es-CR" sz="3240" b="1"/>
            </a:br>
            <a:endParaRPr sz="3240"/>
          </a:p>
        </p:txBody>
      </p:sp>
      <p:pic>
        <p:nvPicPr>
          <p:cNvPr id="222" name="Google Shape;222;p10"/>
          <p:cNvPicPr preferRelativeResize="0">
            <a:picLocks noGrp="1"/>
          </p:cNvPicPr>
          <p:nvPr>
            <p:ph type="body" idx="1"/>
          </p:nvPr>
        </p:nvPicPr>
        <p:blipFill rotWithShape="1">
          <a:blip r:embed="rId3">
            <a:alphaModFix/>
          </a:blip>
          <a:srcRect/>
          <a:stretch/>
        </p:blipFill>
        <p:spPr>
          <a:xfrm>
            <a:off x="976101" y="3530787"/>
            <a:ext cx="8743800" cy="1482900"/>
          </a:xfrm>
          <a:prstGeom prst="rect">
            <a:avLst/>
          </a:prstGeom>
          <a:noFill/>
          <a:ln>
            <a:noFill/>
          </a:ln>
        </p:spPr>
      </p:pic>
      <p:sp>
        <p:nvSpPr>
          <p:cNvPr id="223" name="Google Shape;223;p10"/>
          <p:cNvSpPr txBox="1"/>
          <p:nvPr/>
        </p:nvSpPr>
        <p:spPr>
          <a:xfrm>
            <a:off x="1603450" y="1930400"/>
            <a:ext cx="6088800" cy="132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CR" sz="1800">
                <a:latin typeface="Trebuchet MS"/>
                <a:ea typeface="Trebuchet MS"/>
                <a:cs typeface="Trebuchet MS"/>
                <a:sym typeface="Trebuchet MS"/>
              </a:rPr>
              <a:t>Posee el lenguaje máquina (básico) del computador</a:t>
            </a:r>
            <a:endParaRPr sz="1800">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CR" b="1"/>
              <a:t>Nivel 3 o Nivel del sistema operativo</a:t>
            </a:r>
            <a:br>
              <a:rPr lang="es-CR" b="1"/>
            </a:br>
            <a:endParaRPr/>
          </a:p>
        </p:txBody>
      </p:sp>
      <p:pic>
        <p:nvPicPr>
          <p:cNvPr id="229" name="Google Shape;229;p11"/>
          <p:cNvPicPr preferRelativeResize="0">
            <a:picLocks noGrp="1"/>
          </p:cNvPicPr>
          <p:nvPr>
            <p:ph type="body" idx="1"/>
          </p:nvPr>
        </p:nvPicPr>
        <p:blipFill rotWithShape="1">
          <a:blip r:embed="rId3">
            <a:alphaModFix/>
          </a:blip>
          <a:srcRect/>
          <a:stretch/>
        </p:blipFill>
        <p:spPr>
          <a:xfrm>
            <a:off x="1293956" y="4635672"/>
            <a:ext cx="7779000" cy="1612800"/>
          </a:xfrm>
          <a:prstGeom prst="rect">
            <a:avLst/>
          </a:prstGeom>
          <a:noFill/>
          <a:ln>
            <a:noFill/>
          </a:ln>
        </p:spPr>
      </p:pic>
      <p:sp>
        <p:nvSpPr>
          <p:cNvPr id="230" name="Google Shape;230;p11"/>
          <p:cNvSpPr txBox="1"/>
          <p:nvPr/>
        </p:nvSpPr>
        <p:spPr>
          <a:xfrm>
            <a:off x="1158352" y="1930400"/>
            <a:ext cx="8050200" cy="113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CR" sz="1800">
                <a:latin typeface="Trebuchet MS"/>
                <a:ea typeface="Trebuchet MS"/>
                <a:cs typeface="Trebuchet MS"/>
                <a:sym typeface="Trebuchet MS"/>
              </a:rPr>
              <a:t>La mayoría de las instrucciones de este nivel están también en el nivel 2 pero además tiene un nuevo conjunto de instrucciones y funcionalidades</a:t>
            </a:r>
            <a:endParaRPr sz="1800">
              <a:latin typeface="Trebuchet MS"/>
              <a:ea typeface="Trebuchet MS"/>
              <a:cs typeface="Trebuchet MS"/>
              <a:sym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240"/>
              <a:buFont typeface="Trebuchet MS"/>
              <a:buNone/>
            </a:pPr>
            <a:r>
              <a:rPr lang="es-CR" sz="3240" b="1"/>
              <a:t>Nivel 4 o Nivel del lenguaje ensamblador</a:t>
            </a:r>
            <a:br>
              <a:rPr lang="es-CR" sz="3240" b="1"/>
            </a:br>
            <a:endParaRPr sz="3240"/>
          </a:p>
        </p:txBody>
      </p:sp>
      <p:pic>
        <p:nvPicPr>
          <p:cNvPr id="236" name="Google Shape;236;p12"/>
          <p:cNvPicPr preferRelativeResize="0">
            <a:picLocks noGrp="1"/>
          </p:cNvPicPr>
          <p:nvPr>
            <p:ph type="body" idx="1"/>
          </p:nvPr>
        </p:nvPicPr>
        <p:blipFill rotWithShape="1">
          <a:blip r:embed="rId3">
            <a:alphaModFix/>
          </a:blip>
          <a:srcRect/>
          <a:stretch/>
        </p:blipFill>
        <p:spPr>
          <a:xfrm>
            <a:off x="777907" y="3251300"/>
            <a:ext cx="8395500" cy="1691100"/>
          </a:xfrm>
          <a:prstGeom prst="rect">
            <a:avLst/>
          </a:prstGeom>
          <a:noFill/>
          <a:ln>
            <a:noFill/>
          </a:ln>
        </p:spPr>
      </p:pic>
      <p:sp>
        <p:nvSpPr>
          <p:cNvPr id="237" name="Google Shape;237;p12"/>
          <p:cNvSpPr txBox="1"/>
          <p:nvPr/>
        </p:nvSpPr>
        <p:spPr>
          <a:xfrm>
            <a:off x="946050" y="1753419"/>
            <a:ext cx="10299900" cy="132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CR" sz="1800" dirty="0">
                <a:latin typeface="Trebuchet MS"/>
                <a:ea typeface="Trebuchet MS"/>
                <a:cs typeface="Trebuchet MS"/>
                <a:sym typeface="Trebuchet MS"/>
              </a:rPr>
              <a:t>Nivel de lenguaje intermedio, comúnmente utilizado para realizar aplicaciones</a:t>
            </a:r>
            <a:endParaRPr sz="1800" dirty="0">
              <a:latin typeface="Trebuchet MS"/>
              <a:ea typeface="Trebuchet MS"/>
              <a:cs typeface="Trebuchet MS"/>
              <a:sym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240"/>
              <a:buFont typeface="Trebuchet MS"/>
              <a:buNone/>
            </a:pPr>
            <a:r>
              <a:rPr lang="es-CR" sz="3240" b="1"/>
              <a:t>Nivel 5 o Nivel de lenguaje orientado al problema</a:t>
            </a:r>
            <a:br>
              <a:rPr lang="es-CR" sz="3240" b="1"/>
            </a:br>
            <a:endParaRPr sz="3240"/>
          </a:p>
        </p:txBody>
      </p:sp>
      <p:pic>
        <p:nvPicPr>
          <p:cNvPr id="243" name="Google Shape;243;p13"/>
          <p:cNvPicPr preferRelativeResize="0">
            <a:picLocks noGrp="1"/>
          </p:cNvPicPr>
          <p:nvPr>
            <p:ph type="body" idx="1"/>
          </p:nvPr>
        </p:nvPicPr>
        <p:blipFill rotWithShape="1">
          <a:blip r:embed="rId3">
            <a:alphaModFix/>
          </a:blip>
          <a:srcRect/>
          <a:stretch/>
        </p:blipFill>
        <p:spPr>
          <a:xfrm>
            <a:off x="1596704" y="4213353"/>
            <a:ext cx="7321050" cy="1428496"/>
          </a:xfrm>
          <a:prstGeom prst="rect">
            <a:avLst/>
          </a:prstGeom>
          <a:noFill/>
          <a:ln>
            <a:noFill/>
          </a:ln>
        </p:spPr>
      </p:pic>
      <p:pic>
        <p:nvPicPr>
          <p:cNvPr id="244" name="Google Shape;244;p13"/>
          <p:cNvPicPr preferRelativeResize="0"/>
          <p:nvPr/>
        </p:nvPicPr>
        <p:blipFill rotWithShape="1">
          <a:blip r:embed="rId4">
            <a:alphaModFix/>
          </a:blip>
          <a:srcRect/>
          <a:stretch/>
        </p:blipFill>
        <p:spPr>
          <a:xfrm rot="1680814">
            <a:off x="251785" y="4568120"/>
            <a:ext cx="1428496" cy="1428496"/>
          </a:xfrm>
          <a:prstGeom prst="rect">
            <a:avLst/>
          </a:prstGeom>
          <a:noFill/>
          <a:ln>
            <a:noFill/>
          </a:ln>
        </p:spPr>
      </p:pic>
      <p:pic>
        <p:nvPicPr>
          <p:cNvPr id="245" name="Google Shape;245;p13"/>
          <p:cNvPicPr preferRelativeResize="0"/>
          <p:nvPr/>
        </p:nvPicPr>
        <p:blipFill rotWithShape="1">
          <a:blip r:embed="rId5">
            <a:alphaModFix/>
          </a:blip>
          <a:srcRect/>
          <a:stretch/>
        </p:blipFill>
        <p:spPr>
          <a:xfrm rot="-1078512">
            <a:off x="8369301" y="4047004"/>
            <a:ext cx="2641600" cy="1320800"/>
          </a:xfrm>
          <a:prstGeom prst="rect">
            <a:avLst/>
          </a:prstGeom>
          <a:noFill/>
          <a:ln>
            <a:noFill/>
          </a:ln>
        </p:spPr>
      </p:pic>
      <p:pic>
        <p:nvPicPr>
          <p:cNvPr id="246" name="Google Shape;246;p13"/>
          <p:cNvPicPr preferRelativeResize="0"/>
          <p:nvPr/>
        </p:nvPicPr>
        <p:blipFill rotWithShape="1">
          <a:blip r:embed="rId6">
            <a:alphaModFix/>
          </a:blip>
          <a:srcRect/>
          <a:stretch/>
        </p:blipFill>
        <p:spPr>
          <a:xfrm rot="-757017">
            <a:off x="4799875" y="5600286"/>
            <a:ext cx="914708" cy="1028168"/>
          </a:xfrm>
          <a:prstGeom prst="rect">
            <a:avLst/>
          </a:prstGeom>
          <a:noFill/>
          <a:ln>
            <a:noFill/>
          </a:ln>
        </p:spPr>
      </p:pic>
      <p:sp>
        <p:nvSpPr>
          <p:cNvPr id="247" name="Google Shape;247;p13"/>
          <p:cNvSpPr txBox="1"/>
          <p:nvPr/>
        </p:nvSpPr>
        <p:spPr>
          <a:xfrm>
            <a:off x="665732" y="2178201"/>
            <a:ext cx="10300200" cy="142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CR" sz="1800" dirty="0">
                <a:latin typeface="Trebuchet MS"/>
                <a:ea typeface="Trebuchet MS"/>
                <a:cs typeface="Trebuchet MS"/>
                <a:sym typeface="Trebuchet MS"/>
              </a:rPr>
              <a:t>Nivel donde se utilizan lenguajes de alto nivel y de mayor facilidad de comprensión </a:t>
            </a:r>
            <a:endParaRPr sz="1800" dirty="0">
              <a:latin typeface="Trebuchet MS"/>
              <a:ea typeface="Trebuchet MS"/>
              <a:cs typeface="Trebuchet MS"/>
              <a:sym typeface="Trebuchet M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4"/>
          <p:cNvSpPr txBox="1">
            <a:spLocks noGrp="1"/>
          </p:cNvSpPr>
          <p:nvPr>
            <p:ph type="title"/>
          </p:nvPr>
        </p:nvSpPr>
        <p:spPr>
          <a:xfrm>
            <a:off x="1104808" y="3041721"/>
            <a:ext cx="8850354" cy="163351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CR" sz="6000" dirty="0"/>
              <a:t>Gracias por su atención! </a:t>
            </a:r>
            <a:endParaRPr sz="6000" dirty="0"/>
          </a:p>
        </p:txBody>
      </p:sp>
    </p:spTree>
  </p:cSld>
  <p:clrMapOvr>
    <a:masterClrMapping/>
  </p:clrMapOvr>
  <p:transition spd="slow">
    <p:comb/>
  </p:transition>
</p:sld>
</file>

<file path=ppt/theme/theme1.xml><?xml version="1.0" encoding="utf-8"?>
<a:theme xmlns:a="http://schemas.openxmlformats.org/drawingml/2006/main" name="Faceta">
  <a:themeElements>
    <a:clrScheme name="Faceta">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340</Words>
  <Application>Microsoft Office PowerPoint</Application>
  <PresentationFormat>Panorámica</PresentationFormat>
  <Paragraphs>29</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Noto Sans Symbols</vt:lpstr>
      <vt:lpstr>Trebuchet MS</vt:lpstr>
      <vt:lpstr>Faceta</vt:lpstr>
      <vt:lpstr>Máquinas Multinivel</vt:lpstr>
      <vt:lpstr>¿Que es una maquina virtual?</vt:lpstr>
      <vt:lpstr>Problemática con las máquinas virtuales</vt:lpstr>
      <vt:lpstr>Creación de estructura nivelada</vt:lpstr>
      <vt:lpstr>Compilador e Intérprete </vt:lpstr>
      <vt:lpstr>Organización estructurada de una computadora</vt:lpstr>
      <vt:lpstr>Organización de un computador actual</vt:lpstr>
      <vt:lpstr>Nivel 0 o nivel de lógica digital </vt:lpstr>
      <vt:lpstr>Nivel 1 o Nivel de microprogramación </vt:lpstr>
      <vt:lpstr>Nivel 2 o Nivel de máquina convencional </vt:lpstr>
      <vt:lpstr>Nivel 3 o Nivel del sistema operativo </vt:lpstr>
      <vt:lpstr>Nivel 4 o Nivel del lenguaje ensamblador </vt:lpstr>
      <vt:lpstr>Nivel 5 o Nivel de lenguaje orientado al problema </vt:lpstr>
      <vt:lpstr>Gracias por su atención!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Máquinas Multinivel</dc:title>
  <dc:creator>Mauricio Calderon</dc:creator>
  <cp:lastModifiedBy>Mauricio Calderon</cp:lastModifiedBy>
  <cp:revision>1</cp:revision>
  <dcterms:created xsi:type="dcterms:W3CDTF">2019-08-04T03:25:45Z</dcterms:created>
  <dcterms:modified xsi:type="dcterms:W3CDTF">2019-08-06T03:29:39Z</dcterms:modified>
</cp:coreProperties>
</file>