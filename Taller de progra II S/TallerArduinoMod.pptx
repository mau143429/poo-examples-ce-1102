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73" r:id="rId4"/>
    <p:sldId id="274" r:id="rId5"/>
    <p:sldId id="275" r:id="rId6"/>
    <p:sldId id="329" r:id="rId7"/>
    <p:sldId id="277" r:id="rId8"/>
    <p:sldId id="278" r:id="rId9"/>
    <p:sldId id="339" r:id="rId10"/>
    <p:sldId id="327" r:id="rId11"/>
    <p:sldId id="328" r:id="rId12"/>
    <p:sldId id="326" r:id="rId13"/>
    <p:sldId id="281" r:id="rId14"/>
    <p:sldId id="282" r:id="rId15"/>
    <p:sldId id="271" r:id="rId16"/>
    <p:sldId id="305" r:id="rId17"/>
    <p:sldId id="308" r:id="rId18"/>
    <p:sldId id="306" r:id="rId19"/>
    <p:sldId id="307" r:id="rId20"/>
    <p:sldId id="268" r:id="rId21"/>
    <p:sldId id="330" r:id="rId22"/>
    <p:sldId id="331" r:id="rId23"/>
    <p:sldId id="332" r:id="rId24"/>
    <p:sldId id="334" r:id="rId25"/>
    <p:sldId id="335" r:id="rId26"/>
    <p:sldId id="336" r:id="rId27"/>
    <p:sldId id="337" r:id="rId28"/>
    <p:sldId id="284" r:id="rId29"/>
    <p:sldId id="292" r:id="rId30"/>
    <p:sldId id="294" r:id="rId31"/>
    <p:sldId id="338" r:id="rId32"/>
    <p:sldId id="287" r:id="rId33"/>
    <p:sldId id="295" r:id="rId34"/>
    <p:sldId id="302" r:id="rId35"/>
    <p:sldId id="296" r:id="rId36"/>
    <p:sldId id="297" r:id="rId37"/>
    <p:sldId id="298" r:id="rId38"/>
    <p:sldId id="299" r:id="rId39"/>
    <p:sldId id="301" r:id="rId40"/>
    <p:sldId id="300" r:id="rId41"/>
    <p:sldId id="304" r:id="rId42"/>
    <p:sldId id="303" r:id="rId43"/>
    <p:sldId id="341" r:id="rId44"/>
    <p:sldId id="340" r:id="rId45"/>
    <p:sldId id="323" r:id="rId46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D07ECD6-B421-43F7-AFC1-DC0C0D689039}">
          <p14:sldIdLst>
            <p14:sldId id="257"/>
          </p14:sldIdLst>
        </p14:section>
        <p14:section name="Conceptos basicos" id="{085505A8-FD4F-40D9-9C8F-97266C4DDE12}">
          <p14:sldIdLst>
            <p14:sldId id="272"/>
            <p14:sldId id="273"/>
            <p14:sldId id="274"/>
            <p14:sldId id="275"/>
            <p14:sldId id="329"/>
            <p14:sldId id="277"/>
            <p14:sldId id="278"/>
            <p14:sldId id="339"/>
            <p14:sldId id="327"/>
            <p14:sldId id="328"/>
            <p14:sldId id="326"/>
            <p14:sldId id="281"/>
            <p14:sldId id="282"/>
          </p14:sldIdLst>
        </p14:section>
        <p14:section name="Materiales" id="{1CFD60CB-95CE-4007-9B91-E44DC10F563A}">
          <p14:sldIdLst>
            <p14:sldId id="271"/>
            <p14:sldId id="305"/>
            <p14:sldId id="308"/>
            <p14:sldId id="306"/>
            <p14:sldId id="307"/>
            <p14:sldId id="268"/>
            <p14:sldId id="330"/>
          </p14:sldIdLst>
        </p14:section>
        <p14:section name="soldadura" id="{BF39209B-E32C-41AA-8340-406783EF6158}">
          <p14:sldIdLst>
            <p14:sldId id="331"/>
            <p14:sldId id="332"/>
            <p14:sldId id="334"/>
            <p14:sldId id="335"/>
            <p14:sldId id="336"/>
            <p14:sldId id="337"/>
          </p14:sldIdLst>
        </p14:section>
        <p14:section name="Arduino" id="{46F6C9A9-EAAB-45EA-8294-C6620F388E89}">
          <p14:sldIdLst>
            <p14:sldId id="284"/>
            <p14:sldId id="292"/>
            <p14:sldId id="294"/>
            <p14:sldId id="338"/>
            <p14:sldId id="287"/>
            <p14:sldId id="295"/>
            <p14:sldId id="302"/>
            <p14:sldId id="296"/>
            <p14:sldId id="297"/>
            <p14:sldId id="298"/>
            <p14:sldId id="299"/>
            <p14:sldId id="301"/>
            <p14:sldId id="300"/>
            <p14:sldId id="304"/>
            <p14:sldId id="303"/>
            <p14:sldId id="341"/>
            <p14:sldId id="340"/>
          </p14:sldIdLst>
        </p14:section>
        <p14:section name="Cierre" id="{5E042590-E07B-4DD7-99D6-B337B422BDD7}">
          <p14:sldIdLst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48A"/>
    <a:srgbClr val="367D82"/>
    <a:srgbClr val="1997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81F0E-7CC8-4833-81CF-8EDD65DEA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40F6E3-2B01-4F11-AFFE-3F5953FC4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ECE68B-35D5-42FB-9570-2CF836CD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44491-7D49-4C2E-BD52-1140CF28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1CF150-A791-49FB-88C4-FBD8EE2F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8509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60BE4-AFF8-4E4C-8F7A-1781CFE7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2CB76E-0353-4775-84BC-3BD75210B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D41D25-6E2D-48AF-9EB1-FCF00FC5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FCECFC-1AB4-4B8D-B674-2C01611A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E01E58-AA04-4935-8997-624FEB2C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9227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D138B-E65E-4DFE-9989-C9CB2DB00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737135-AABC-45D4-A2B6-41E362F5F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0B07D5-88D0-4E80-A143-649525640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541E52-4DB1-4093-B115-B7BED74F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797BE8-9C6F-4E5B-B372-F27DA561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4594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D8E3A-B550-403F-B27D-60D1423F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5A6E14-AFBE-436A-821A-14F8BAD6E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CB0B67-7A52-4A36-B80F-306A1B85D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7BCA38-FD47-4D05-97B5-88D2A58D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64AEA-FDE6-44B4-BEAF-083CF600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5C70A1-DE28-4562-AE6D-9409571B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3599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00DA3-8B34-46A6-A0F4-54287151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CB7D16-D8B2-4EC1-95A0-F0A035263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1413F1-CB73-45AB-8C06-D750FFE38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138A9A-F462-4B5F-9FF1-585E7B72B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96D2F5E-585E-4BA5-8535-C69EB4806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55C637-8137-451F-9AB8-76273D86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22FB09-3F54-4E29-9AD1-08D46A9F8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9EA43F-C27F-4BBC-906B-E2765320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9251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A70E9-2249-47B9-8F1B-A069245B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EF500-56F7-4896-8B66-8BD2C72E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45B8662-F042-45C6-BD1E-B1A49DDD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0712F4-6263-4B7C-AC20-C2D5DD24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8139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AD2EC7-66FE-4EAA-8A12-D62C26E00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038E29E-F911-4D46-8365-17E9A99A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877273-0992-45E2-AE03-1F3B7EC9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5454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077A9-F9BD-4296-8748-FF67B043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3A0A37-9C8C-47D6-A28D-AEE2A675F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3FF10E-AE1B-4CFE-B52E-2D9B8A6DF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FB37EF-D3A8-49E0-93E1-36C50476B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84FAE7-C5EF-44CE-AABC-CECA5223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235401-FD2A-44EB-B42B-C5C18F70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6282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D2433-BA9F-4253-B28F-FD3FDAA2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8CCD03-DDFA-4E86-AD53-FE9629CFB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B25D8D-7C42-44D9-B031-2E7AE72E6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34081C-EF81-47B3-8921-52DA2641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8286B2-BE9E-4F10-B91A-17BEF7E1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2A713B-53C1-4D8C-9E85-17FF7B18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083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EDA1B-439E-4DD1-BC1B-6CCAB677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FBECCF-DFE9-4274-A8FB-70E8011C9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2A2BDA-9367-42FD-9C7E-981FAEAB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A7CB28-EE38-4027-A9C2-6371B369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C251C7-8F4A-44C7-8EAA-98660608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2886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30F7C6-93F7-4F5A-854C-3C32AF020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6492C1-3A48-4223-BFA9-63895BDF7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AC9DC7-39A9-450B-B3AA-D39D3150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877CF5-17B6-4B41-B3AF-3BA18C35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D2EC6-F00D-4D2D-B088-A3AC6DBB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03420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BBCA7E-34FF-44A8-94B6-5E2469F7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62AEF9-098E-4818-9B6F-861087A8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17F60B-5F03-4909-A361-0CEF24F65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CF4DA-F5D6-4DF0-943F-9238D7189E30}" type="datetimeFigureOut">
              <a:rPr lang="es-CR" smtClean="0"/>
              <a:t>07/10/2019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8F2108-072A-432D-8238-6D43CBD4E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B0CA11-73E8-46D8-91D9-65DD287BB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22026-C45A-46A8-AE6B-6DA0412010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828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lstad.com/circuit/" TargetMode="External"/><Relationship Id="rId2" Type="http://schemas.openxmlformats.org/officeDocument/2006/relationships/hyperlink" Target="https://www.tinkercad.com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greatscottlab" TargetMode="External"/><Relationship Id="rId2" Type="http://schemas.openxmlformats.org/officeDocument/2006/relationships/hyperlink" Target="https://www.youtube.com/user/Afrotechmod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user/sparkfun" TargetMode="External"/><Relationship Id="rId4" Type="http://schemas.openxmlformats.org/officeDocument/2006/relationships/hyperlink" Target="https://www.youtube.com/user/msadaghd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7D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/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1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7" name="Oval 136">
            <a:extLst/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>
            <a:solidFill>
              <a:srgbClr val="06CC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1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6" name="Picture 2" descr="Resultado de imagen de arduino">
            <a:extLst>
              <a:ext uri="{FF2B5EF4-FFF2-40B4-BE49-F238E27FC236}">
                <a16:creationId xmlns:a16="http://schemas.microsoft.com/office/drawing/2014/main" id="{3004F8A0-AB02-4756-966F-CE30CF6FA7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37115" y="1453414"/>
            <a:ext cx="1517772" cy="101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62F8659-1BBB-4B2B-9C12-DD1B4DE68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465" y="2235200"/>
            <a:ext cx="9144000" cy="2387600"/>
          </a:xfrm>
        </p:spPr>
        <p:txBody>
          <a:bodyPr anchor="b">
            <a:normAutofit fontScale="90000"/>
          </a:bodyPr>
          <a:lstStyle/>
          <a:p>
            <a:r>
              <a:rPr lang="es-CR" dirty="0">
                <a:solidFill>
                  <a:srgbClr val="FFFFFF"/>
                </a:solidFill>
              </a:rPr>
              <a:t>Taller de Arduino y Electrónica básica: Parte Teórica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5828A3-40EB-4C56-84CA-28BABDD83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2930" y="4614337"/>
            <a:ext cx="8495070" cy="2235200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Ingeniería en Computadores/</a:t>
            </a:r>
            <a:r>
              <a:rPr lang="es-CR" dirty="0" err="1">
                <a:solidFill>
                  <a:srgbClr val="FFFFFF"/>
                </a:solidFill>
              </a:rPr>
              <a:t>Computer</a:t>
            </a:r>
            <a:r>
              <a:rPr lang="es-CR" dirty="0">
                <a:solidFill>
                  <a:srgbClr val="FFFFFF"/>
                </a:solidFill>
              </a:rPr>
              <a:t> </a:t>
            </a:r>
            <a:r>
              <a:rPr lang="es-CR" dirty="0" err="1">
                <a:solidFill>
                  <a:srgbClr val="FFFFFF"/>
                </a:solidFill>
              </a:rPr>
              <a:t>Engineering</a:t>
            </a:r>
            <a:endParaRPr lang="es-CR" dirty="0">
              <a:solidFill>
                <a:srgbClr val="FFFFFF"/>
              </a:solidFill>
            </a:endParaRPr>
          </a:p>
          <a:p>
            <a:r>
              <a:rPr lang="es-CR" dirty="0">
                <a:solidFill>
                  <a:srgbClr val="FFFFFF"/>
                </a:solidFill>
              </a:rPr>
              <a:t>Presentación hecha por: Santiago Gamboa </a:t>
            </a:r>
          </a:p>
          <a:p>
            <a:r>
              <a:rPr lang="es-CR" dirty="0">
                <a:solidFill>
                  <a:srgbClr val="FFFFFF"/>
                </a:solidFill>
              </a:rPr>
              <a:t>Modificada por: José Morales</a:t>
            </a:r>
            <a:br>
              <a:rPr lang="es-CR" dirty="0">
                <a:solidFill>
                  <a:srgbClr val="FFFFFF"/>
                </a:solidFill>
              </a:rPr>
            </a:br>
            <a:r>
              <a:rPr lang="es-CR" dirty="0">
                <a:solidFill>
                  <a:srgbClr val="FFFFFF"/>
                </a:solidFill>
              </a:rPr>
              <a:t>Profesor: Milton Villegas Lemus</a:t>
            </a:r>
          </a:p>
          <a:p>
            <a:r>
              <a:rPr lang="es-CR" dirty="0">
                <a:solidFill>
                  <a:srgbClr val="FFFFFF"/>
                </a:solidFill>
              </a:rPr>
              <a:t>Octubre, 2019</a:t>
            </a:r>
          </a:p>
        </p:txBody>
      </p:sp>
    </p:spTree>
    <p:extLst>
      <p:ext uri="{BB962C8B-B14F-4D97-AF65-F5344CB8AC3E}">
        <p14:creationId xmlns:p14="http://schemas.microsoft.com/office/powerpoint/2010/main" val="84684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Rectangle 310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24" name="Marcador de contenido 4" descr="Imagen que contiene electrónica, circuito&#10;&#10;Descripción generada con confianza muy alta">
            <a:extLst>
              <a:ext uri="{FF2B5EF4-FFF2-40B4-BE49-F238E27FC236}">
                <a16:creationId xmlns:a16="http://schemas.microsoft.com/office/drawing/2014/main" id="{C92F92A6-C236-4E28-942F-83E698F941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47" r="19525" b="-1"/>
          <a:stretch/>
        </p:blipFill>
        <p:spPr>
          <a:xfrm>
            <a:off x="20" y="10"/>
            <a:ext cx="6105635" cy="685799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86AD8F3-A622-4773-9B89-93664A7F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736" y="640082"/>
            <a:ext cx="4806184" cy="3637373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Básicos</a:t>
            </a:r>
            <a:r>
              <a:rPr lang="en-US" dirty="0"/>
              <a:t> de </a:t>
            </a:r>
            <a:r>
              <a:rPr lang="en-US" dirty="0" err="1"/>
              <a:t>Electrónica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A94322-EF87-4372-BA59-AF250E8E7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5736" y="4415883"/>
            <a:ext cx="4806184" cy="1802038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0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Corriente Eléctrica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422847" cy="3785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/>
              <a:t>Flujo de electrones a través de un material por un periodo de tiempo.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Se mide en Amperios </a:t>
            </a:r>
            <a:r>
              <a:rPr lang="en-US" sz="2400" dirty="0"/>
              <a:t>[C]\[s] = </a:t>
            </a:r>
            <a:r>
              <a:rPr lang="es-CR" sz="2400" dirty="0"/>
              <a:t>[A</a:t>
            </a:r>
            <a:r>
              <a:rPr lang="en-US" sz="2400" dirty="0"/>
              <a:t>]</a:t>
            </a:r>
            <a:endParaRPr lang="es-CR" sz="2400" dirty="0"/>
          </a:p>
        </p:txBody>
      </p:sp>
      <p:pic>
        <p:nvPicPr>
          <p:cNvPr id="7" name="Picture 2" descr="Resultado de imagen de Corriente">
            <a:extLst>
              <a:ext uri="{FF2B5EF4-FFF2-40B4-BE49-F238E27FC236}">
                <a16:creationId xmlns:a16="http://schemas.microsoft.com/office/drawing/2014/main" id="{8353BB17-F595-476A-AE11-21E56597F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1" y="2137228"/>
            <a:ext cx="3141466" cy="258354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66EB746-5994-4C87-A758-3A634DD81164}"/>
              </a:ext>
            </a:extLst>
          </p:cNvPr>
          <p:cNvSpPr txBox="1">
            <a:spLocks/>
          </p:cNvSpPr>
          <p:nvPr/>
        </p:nvSpPr>
        <p:spPr>
          <a:xfrm>
            <a:off x="-938660" y="6223819"/>
            <a:ext cx="8495070" cy="904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6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11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17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23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29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34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40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46" indent="0" algn="ctr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dirty="0"/>
              <a:t>Ingeniería en Computadores/</a:t>
            </a:r>
            <a:r>
              <a:rPr lang="es-CR" dirty="0" err="1"/>
              <a:t>Computer</a:t>
            </a:r>
            <a:r>
              <a:rPr lang="es-CR" dirty="0"/>
              <a:t> </a:t>
            </a:r>
            <a:r>
              <a:rPr lang="es-CR" dirty="0" err="1"/>
              <a:t>Engineering</a:t>
            </a:r>
            <a:endParaRPr lang="es-CR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5C35EFC-2D7A-446C-9F76-3483A422E3E8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581D16AB-21F9-4D2D-86BA-84F2A9F191FF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11" name="Subtítulo 2">
              <a:extLst>
                <a:ext uri="{FF2B5EF4-FFF2-40B4-BE49-F238E27FC236}">
                  <a16:creationId xmlns:a16="http://schemas.microsoft.com/office/drawing/2014/main" id="{D0241AB8-C7DD-4BDD-A94D-23AA83B5C0FC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266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Tensión eléctrica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6422848" cy="3785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/>
              <a:t>Potencial eléctrica: Cantidad de trabajo de un campo eléctrico para mover un electrón.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Tensión: Diferencia de potenciales eléctricas entre dos puntos (facilidad para aceptar electrones)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Se mide en Voltios [V</a:t>
            </a:r>
            <a:r>
              <a:rPr lang="en-US" sz="2400" dirty="0"/>
              <a:t>]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33CF81-BCE6-4DA6-B497-C45E070BC0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532" t="3737" r="27503" b="1714"/>
          <a:stretch/>
        </p:blipFill>
        <p:spPr>
          <a:xfrm>
            <a:off x="8626249" y="1410788"/>
            <a:ext cx="2496329" cy="4124661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A458F167-D305-453C-A56F-10169D8E48CA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079C7605-4431-4318-9E99-E13C6D3732EC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7" name="Subtítulo 2">
              <a:extLst>
                <a:ext uri="{FF2B5EF4-FFF2-40B4-BE49-F238E27FC236}">
                  <a16:creationId xmlns:a16="http://schemas.microsoft.com/office/drawing/2014/main" id="{D38B5FCA-6DC5-4D90-8820-9B94048FC6DC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127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Resistencia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6422848" cy="3785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/>
              <a:t>Capacidad de un elemento para resistirse al paso de corriente eléctrica. 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La unidad de medida es el ohm [</a:t>
            </a:r>
            <a:r>
              <a:rPr lang="el-GR" sz="2400" dirty="0"/>
              <a:t>Ω</a:t>
            </a:r>
            <a:r>
              <a:rPr lang="en-US" sz="2400" dirty="0"/>
              <a:t>].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E55F82-8B4C-4396-BA72-198CB8596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5" t="8213" r="5669" b="20264"/>
          <a:stretch/>
        </p:blipFill>
        <p:spPr>
          <a:xfrm rot="10800000">
            <a:off x="8167439" y="1064695"/>
            <a:ext cx="3413950" cy="1930400"/>
          </a:xfrm>
          <a:prstGeom prst="rect">
            <a:avLst/>
          </a:prstGeom>
        </p:spPr>
      </p:pic>
      <p:pic>
        <p:nvPicPr>
          <p:cNvPr id="1026" name="Picture 2" descr="Resultado de imagen de dibujo resistencia electrica">
            <a:extLst>
              <a:ext uri="{FF2B5EF4-FFF2-40B4-BE49-F238E27FC236}">
                <a16:creationId xmlns:a16="http://schemas.microsoft.com/office/drawing/2014/main" id="{94DAB7FF-FC9F-41A5-AA10-5B7E099F9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" t="8400" r="2764" b="8814"/>
          <a:stretch/>
        </p:blipFill>
        <p:spPr bwMode="auto">
          <a:xfrm>
            <a:off x="8167439" y="3479728"/>
            <a:ext cx="3413950" cy="158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33FDD8C1-3ADB-4B3D-82BD-4E62FE86385C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B8A9E239-5374-4514-9A98-EB003BE0CF57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10" name="Subtítulo 2">
              <a:extLst>
                <a:ext uri="{FF2B5EF4-FFF2-40B4-BE49-F238E27FC236}">
                  <a16:creationId xmlns:a16="http://schemas.microsoft.com/office/drawing/2014/main" id="{B2DA84A3-8E45-46D4-B8D5-31D669EA0271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86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Código de colores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3FDD8C1-3ADB-4B3D-82BD-4E62FE86385C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B8A9E239-5374-4514-9A98-EB003BE0CF57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10" name="Subtítulo 2">
              <a:extLst>
                <a:ext uri="{FF2B5EF4-FFF2-40B4-BE49-F238E27FC236}">
                  <a16:creationId xmlns:a16="http://schemas.microsoft.com/office/drawing/2014/main" id="{B2DA84A3-8E45-46D4-B8D5-31D669EA0271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  <p:pic>
        <p:nvPicPr>
          <p:cNvPr id="2054" name="Picture 6" descr="Imagen relacionada">
            <a:extLst>
              <a:ext uri="{FF2B5EF4-FFF2-40B4-BE49-F238E27FC236}">
                <a16:creationId xmlns:a16="http://schemas.microsoft.com/office/drawing/2014/main" id="{F970E126-E9E5-4491-9462-7D902CF17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49" y="1839906"/>
            <a:ext cx="5649808" cy="422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3060473-00BE-444C-A023-4F923DEA1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128" y="2292093"/>
            <a:ext cx="3474571" cy="212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9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Ley de Ohm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6422848" cy="3785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/>
              <a:t>Relación de corriente, tensión y resistencia.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La tensión en una resistencia es igual a su valor por la corriente que pasa por ella.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4E0C41-59D7-4D22-9956-7E23390AF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887" y="2014211"/>
            <a:ext cx="2835439" cy="2835439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41F6FDB0-8E1B-4920-A657-72723C543340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E64F5D96-A647-4DA5-B278-2C7B3F5601A3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9" name="Subtítulo 2">
              <a:extLst>
                <a:ext uri="{FF2B5EF4-FFF2-40B4-BE49-F238E27FC236}">
                  <a16:creationId xmlns:a16="http://schemas.microsoft.com/office/drawing/2014/main" id="{F57883F5-2A45-46D5-83F3-B6BCBC24496E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9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Potencia eléctrica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6422848" cy="3785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/>
              <a:t>Transferencia de energía con respecto al tiempo.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Es igual al producto de la tensión por la corriente.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Medida en Watts [W</a:t>
            </a:r>
            <a:r>
              <a:rPr lang="en-US" sz="2400" dirty="0"/>
              <a:t>].</a:t>
            </a:r>
            <a:endParaRPr lang="es-CR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328CE6-C701-4E86-982D-45ACD3CBA0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38" t="6774" r="7430" b="9091"/>
          <a:stretch/>
        </p:blipFill>
        <p:spPr>
          <a:xfrm>
            <a:off x="8286939" y="1835589"/>
            <a:ext cx="3174949" cy="3037272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293385E8-E60E-4A44-ACC4-AA24C8BCE998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7C8F9FB-A352-415A-9A52-11C1913136D4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9" name="Subtítulo 2">
              <a:extLst>
                <a:ext uri="{FF2B5EF4-FFF2-40B4-BE49-F238E27FC236}">
                  <a16:creationId xmlns:a16="http://schemas.microsoft.com/office/drawing/2014/main" id="{0D8C0184-043E-4E75-B868-0EE7BEC2E501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833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6B0B6F4-101C-41C7-B314-204D067E53EE}"/>
              </a:ext>
            </a:extLst>
          </p:cNvPr>
          <p:cNvSpPr/>
          <p:nvPr/>
        </p:nvSpPr>
        <p:spPr>
          <a:xfrm>
            <a:off x="0" y="3882574"/>
            <a:ext cx="12192000" cy="25098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F8825E-EAB3-4ECF-B8A3-0DE67301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Modelos de flujo de corriente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429F00-9ED3-46B6-B462-02DB51CD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10515600" cy="45667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dirty="0"/>
              <a:t>ánodo – cátodo</a:t>
            </a:r>
            <a:r>
              <a:rPr lang="en-US" dirty="0"/>
              <a:t> (</a:t>
            </a:r>
            <a:r>
              <a:rPr lang="en-US" dirty="0" err="1"/>
              <a:t>químico</a:t>
            </a:r>
            <a:r>
              <a:rPr lang="en-US" dirty="0"/>
              <a:t> - real)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err="1"/>
              <a:t>Electrones</a:t>
            </a:r>
            <a:r>
              <a:rPr lang="en-US" sz="2000" dirty="0"/>
              <a:t> </a:t>
            </a:r>
            <a:r>
              <a:rPr lang="en-US" sz="2000" dirty="0" err="1"/>
              <a:t>fluyen</a:t>
            </a:r>
            <a:r>
              <a:rPr lang="en-US" sz="2000" dirty="0"/>
              <a:t> de </a:t>
            </a:r>
            <a:r>
              <a:rPr lang="en-US" sz="2000" dirty="0" err="1"/>
              <a:t>átomos</a:t>
            </a:r>
            <a:r>
              <a:rPr lang="en-US" sz="2000" dirty="0"/>
              <a:t> </a:t>
            </a:r>
            <a:r>
              <a:rPr lang="en-US" sz="2000" dirty="0" err="1"/>
              <a:t>cargados</a:t>
            </a:r>
            <a:r>
              <a:rPr lang="en-US" sz="2000" dirty="0"/>
              <a:t> </a:t>
            </a:r>
            <a:r>
              <a:rPr lang="en-US" sz="2000" dirty="0" err="1"/>
              <a:t>negativamente</a:t>
            </a:r>
            <a:r>
              <a:rPr lang="en-US" sz="2000" dirty="0"/>
              <a:t> a </a:t>
            </a:r>
            <a:r>
              <a:rPr lang="en-US" sz="2000" dirty="0" err="1"/>
              <a:t>átomos</a:t>
            </a:r>
            <a:r>
              <a:rPr lang="en-US" sz="2000" dirty="0"/>
              <a:t> </a:t>
            </a:r>
            <a:r>
              <a:rPr lang="en-US" sz="2000" dirty="0" err="1"/>
              <a:t>cargados</a:t>
            </a:r>
            <a:r>
              <a:rPr lang="en-US" sz="2000" dirty="0"/>
              <a:t> </a:t>
            </a:r>
            <a:r>
              <a:rPr lang="en-US" sz="2000" dirty="0" err="1"/>
              <a:t>positivamente</a:t>
            </a:r>
            <a:endParaRPr lang="en-US" sz="2000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</a:rPr>
              <a:t>cátodo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en-US" dirty="0" err="1">
                <a:solidFill>
                  <a:schemeClr val="bg1"/>
                </a:solidFill>
              </a:rPr>
              <a:t>ánodo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convenci</a:t>
            </a:r>
            <a:r>
              <a:rPr lang="es-CR" dirty="0" err="1">
                <a:solidFill>
                  <a:schemeClr val="bg1"/>
                </a:solidFill>
              </a:rPr>
              <a:t>onal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es-C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R" sz="2000" dirty="0">
                <a:solidFill>
                  <a:schemeClr val="bg1"/>
                </a:solidFill>
              </a:rPr>
              <a:t>Electrones fluyen de positivo a negativo</a:t>
            </a:r>
          </a:p>
          <a:p>
            <a:pPr marL="0" indent="0">
              <a:buNone/>
            </a:pPr>
            <a:endParaRPr lang="es-C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R" sz="2000" dirty="0">
                <a:solidFill>
                  <a:schemeClr val="bg1"/>
                </a:solidFill>
              </a:rPr>
              <a:t>A pesar de que el modelo convencional es incorrecto en asumir que la corriente fluye de positivo a negativo, es la convención utilizada en planteamiento de ecuaciones y caracterización de circuitos</a:t>
            </a:r>
          </a:p>
        </p:txBody>
      </p:sp>
    </p:spTree>
    <p:extLst>
      <p:ext uri="{BB962C8B-B14F-4D97-AF65-F5344CB8AC3E}">
        <p14:creationId xmlns:p14="http://schemas.microsoft.com/office/powerpoint/2010/main" val="2933607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contenido 4">
            <a:extLst>
              <a:ext uri="{FF2B5EF4-FFF2-40B4-BE49-F238E27FC236}">
                <a16:creationId xmlns:a16="http://schemas.microsoft.com/office/drawing/2014/main" id="{9EEC4856-E407-4A3A-BF39-E45CB9324C77}"/>
              </a:ext>
            </a:extLst>
          </p:cNvPr>
          <p:cNvSpPr txBox="1">
            <a:spLocks/>
          </p:cNvSpPr>
          <p:nvPr/>
        </p:nvSpPr>
        <p:spPr>
          <a:xfrm>
            <a:off x="6172200" y="424069"/>
            <a:ext cx="5181600" cy="57528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CR" dirty="0">
                <a:latin typeface="+mj-lt"/>
              </a:rPr>
              <a:t>Circuito Paralelo</a:t>
            </a:r>
          </a:p>
          <a:p>
            <a:r>
              <a:rPr lang="es-CR" sz="2400" dirty="0"/>
              <a:t>La tensión es igual en todos los elementos.</a:t>
            </a:r>
          </a:p>
          <a:p>
            <a:r>
              <a:rPr lang="es-CR" sz="2400" dirty="0"/>
              <a:t>Comparten ambas terminales.</a:t>
            </a:r>
          </a:p>
          <a:p>
            <a:r>
              <a:rPr lang="es-CR" sz="2400" dirty="0"/>
              <a:t>Las resistencias en paralelo están dados por: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BED67C5-6EB2-451A-924E-D06CA64B1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424070"/>
            <a:ext cx="5181600" cy="575289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s-CR" dirty="0">
                <a:latin typeface="+mj-lt"/>
              </a:rPr>
              <a:t>Circuito serie</a:t>
            </a:r>
          </a:p>
          <a:p>
            <a:r>
              <a:rPr lang="es-CR" sz="2400" dirty="0"/>
              <a:t>La corriente es igual en todos los elementos.</a:t>
            </a:r>
          </a:p>
          <a:p>
            <a:r>
              <a:rPr lang="es-CR" sz="2400" dirty="0"/>
              <a:t>Comparten solamente una terminal.</a:t>
            </a:r>
          </a:p>
          <a:p>
            <a:r>
              <a:rPr lang="es-CR" sz="2400" dirty="0"/>
              <a:t>Las resistencias en serie se calculan:</a:t>
            </a:r>
          </a:p>
          <a:p>
            <a:pPr marL="0" indent="0">
              <a:buNone/>
            </a:pPr>
            <a:endParaRPr lang="es-CR" dirty="0">
              <a:latin typeface="+mj-lt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93385E8-E60E-4A44-ACC4-AA24C8BCE998}"/>
              </a:ext>
            </a:extLst>
          </p:cNvPr>
          <p:cNvGrpSpPr/>
          <p:nvPr/>
        </p:nvGrpSpPr>
        <p:grpSpPr>
          <a:xfrm>
            <a:off x="1484266" y="6422599"/>
            <a:ext cx="8495070" cy="501661"/>
            <a:chOff x="-795111" y="6223819"/>
            <a:chExt cx="8495070" cy="50166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7C8F9FB-A352-415A-9A52-11C1913136D4}"/>
                </a:ext>
              </a:extLst>
            </p:cNvPr>
            <p:cNvSpPr/>
            <p:nvPr/>
          </p:nvSpPr>
          <p:spPr>
            <a:xfrm>
              <a:off x="-355358" y="6223819"/>
              <a:ext cx="7615563" cy="389018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9" name="Subtítulo 2">
              <a:extLst>
                <a:ext uri="{FF2B5EF4-FFF2-40B4-BE49-F238E27FC236}">
                  <a16:creationId xmlns:a16="http://schemas.microsoft.com/office/drawing/2014/main" id="{0D8C0184-043E-4E75-B868-0EE7BEC2E501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20"/>
              <a:ext cx="8495070" cy="50166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Imagen 3" title="Circuito Serie">
            <a:extLst>
              <a:ext uri="{FF2B5EF4-FFF2-40B4-BE49-F238E27FC236}">
                <a16:creationId xmlns:a16="http://schemas.microsoft.com/office/drawing/2014/main" id="{689B32A1-625A-43AB-9408-441E1814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22" y="4195145"/>
            <a:ext cx="3421171" cy="2227453"/>
          </a:xfrm>
          <a:prstGeom prst="rect">
            <a:avLst/>
          </a:prstGeom>
        </p:spPr>
      </p:pic>
      <p:pic>
        <p:nvPicPr>
          <p:cNvPr id="18" name="Picture 2" descr="Resultado de imagen para circuito paralelo">
            <a:extLst>
              <a:ext uri="{FF2B5EF4-FFF2-40B4-BE49-F238E27FC236}">
                <a16:creationId xmlns:a16="http://schemas.microsoft.com/office/drawing/2014/main" id="{507BDF68-91A9-44AF-8D75-9F9D20EE553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013" y="3949509"/>
            <a:ext cx="3636065" cy="239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D6D5622-9BF9-40DD-B872-D9F2780F3A07}"/>
                  </a:ext>
                </a:extLst>
              </p:cNvPr>
              <p:cNvSpPr txBox="1"/>
              <p:nvPr/>
            </p:nvSpPr>
            <p:spPr>
              <a:xfrm>
                <a:off x="1477907" y="3227904"/>
                <a:ext cx="38822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CR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s-C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C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C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C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CR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C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C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R" sz="24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D6D5622-9BF9-40DD-B872-D9F2780F3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907" y="3227904"/>
                <a:ext cx="3882217" cy="369332"/>
              </a:xfrm>
              <a:prstGeom prst="rect">
                <a:avLst/>
              </a:prstGeom>
              <a:blipFill>
                <a:blip r:embed="rId4"/>
                <a:stretch>
                  <a:fillRect l="-1256" b="-1500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9A338A4-1E14-4B0C-9FA9-D10743FE4B9D}"/>
                  </a:ext>
                </a:extLst>
              </p:cNvPr>
              <p:cNvSpPr txBox="1"/>
              <p:nvPr/>
            </p:nvSpPr>
            <p:spPr>
              <a:xfrm>
                <a:off x="6984275" y="3079177"/>
                <a:ext cx="3557449" cy="666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s-C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R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  <m:sub>
                        <m:r>
                          <a:rPr lang="es-CR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C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s-C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  <m:sub>
                        <m:r>
                          <a:rPr lang="es-C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R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s-C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  <m:sub>
                        <m:r>
                          <a:rPr lang="es-C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s-C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  <m:sub>
                        <m:r>
                          <a:rPr lang="es-C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CR" sz="2800" dirty="0"/>
                  <a:t>+ </a:t>
                </a:r>
                <a14:m>
                  <m:oMath xmlns:m="http://schemas.openxmlformats.org/officeDocument/2006/math">
                    <m:r>
                      <a:rPr lang="es-CR" sz="28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s-CR" sz="28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s-C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R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  <m:sub>
                        <m:r>
                          <a:rPr lang="es-C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s-CR" sz="28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9A338A4-1E14-4B0C-9FA9-D10743FE4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275" y="3079177"/>
                <a:ext cx="3557449" cy="666786"/>
              </a:xfrm>
              <a:prstGeom prst="rect">
                <a:avLst/>
              </a:prstGeom>
              <a:blipFill>
                <a:blip r:embed="rId5"/>
                <a:stretch>
                  <a:fillRect l="-172" t="-1835" b="-1192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986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contenido 4">
            <a:extLst>
              <a:ext uri="{FF2B5EF4-FFF2-40B4-BE49-F238E27FC236}">
                <a16:creationId xmlns:a16="http://schemas.microsoft.com/office/drawing/2014/main" id="{9EEC4856-E407-4A3A-BF39-E45CB9324C77}"/>
              </a:ext>
            </a:extLst>
          </p:cNvPr>
          <p:cNvSpPr txBox="1">
            <a:spLocks/>
          </p:cNvSpPr>
          <p:nvPr/>
        </p:nvSpPr>
        <p:spPr>
          <a:xfrm>
            <a:off x="6172200" y="424069"/>
            <a:ext cx="5181600" cy="490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CR" dirty="0">
                <a:latin typeface="+mj-lt"/>
              </a:rPr>
              <a:t>Medición de Tensión</a:t>
            </a:r>
          </a:p>
          <a:p>
            <a:pPr marL="0" indent="0">
              <a:buNone/>
            </a:pPr>
            <a:endParaRPr lang="es-CR" sz="240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93385E8-E60E-4A44-ACC4-AA24C8BCE998}"/>
              </a:ext>
            </a:extLst>
          </p:cNvPr>
          <p:cNvGrpSpPr/>
          <p:nvPr/>
        </p:nvGrpSpPr>
        <p:grpSpPr>
          <a:xfrm>
            <a:off x="1484266" y="6422599"/>
            <a:ext cx="8495070" cy="501661"/>
            <a:chOff x="-795111" y="6223819"/>
            <a:chExt cx="8495070" cy="50166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7C8F9FB-A352-415A-9A52-11C1913136D4}"/>
                </a:ext>
              </a:extLst>
            </p:cNvPr>
            <p:cNvSpPr/>
            <p:nvPr/>
          </p:nvSpPr>
          <p:spPr>
            <a:xfrm>
              <a:off x="-355358" y="6223819"/>
              <a:ext cx="7615563" cy="389018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9" name="Subtítulo 2">
              <a:extLst>
                <a:ext uri="{FF2B5EF4-FFF2-40B4-BE49-F238E27FC236}">
                  <a16:creationId xmlns:a16="http://schemas.microsoft.com/office/drawing/2014/main" id="{0D8C0184-043E-4E75-B868-0EE7BEC2E501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20"/>
              <a:ext cx="8495070" cy="50166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E13F25-74A1-42D4-ADEC-225194BDC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0600" y="1066800"/>
            <a:ext cx="5181600" cy="5110163"/>
          </a:xfrm>
        </p:spPr>
        <p:txBody>
          <a:bodyPr/>
          <a:lstStyle/>
          <a:p>
            <a:r>
              <a:rPr lang="es-CR" dirty="0"/>
              <a:t>Se mide en serie.</a:t>
            </a:r>
          </a:p>
          <a:p>
            <a:r>
              <a:rPr lang="es-CR" dirty="0"/>
              <a:t>La corriente que pasa por los elementos es la misma en serie</a:t>
            </a:r>
          </a:p>
        </p:txBody>
      </p:sp>
      <p:sp>
        <p:nvSpPr>
          <p:cNvPr id="17" name="Marcador de contenido 4">
            <a:extLst>
              <a:ext uri="{FF2B5EF4-FFF2-40B4-BE49-F238E27FC236}">
                <a16:creationId xmlns:a16="http://schemas.microsoft.com/office/drawing/2014/main" id="{BE763482-0E67-4F60-9341-C7A469EA1185}"/>
              </a:ext>
            </a:extLst>
          </p:cNvPr>
          <p:cNvSpPr txBox="1">
            <a:spLocks/>
          </p:cNvSpPr>
          <p:nvPr/>
        </p:nvSpPr>
        <p:spPr>
          <a:xfrm>
            <a:off x="550200" y="424069"/>
            <a:ext cx="5181600" cy="490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CR" dirty="0">
                <a:latin typeface="+mj-lt"/>
              </a:rPr>
              <a:t>Medición de Corriente</a:t>
            </a:r>
          </a:p>
          <a:p>
            <a:pPr marL="0" indent="0">
              <a:buNone/>
            </a:pPr>
            <a:endParaRPr lang="es-CR" sz="2400" dirty="0"/>
          </a:p>
        </p:txBody>
      </p:sp>
      <p:sp>
        <p:nvSpPr>
          <p:cNvPr id="19" name="Marcador de contenido 5">
            <a:extLst>
              <a:ext uri="{FF2B5EF4-FFF2-40B4-BE49-F238E27FC236}">
                <a16:creationId xmlns:a16="http://schemas.microsoft.com/office/drawing/2014/main" id="{F362C205-9F62-454D-A332-D52CB51B6472}"/>
              </a:ext>
            </a:extLst>
          </p:cNvPr>
          <p:cNvSpPr txBox="1">
            <a:spLocks/>
          </p:cNvSpPr>
          <p:nvPr/>
        </p:nvSpPr>
        <p:spPr>
          <a:xfrm>
            <a:off x="6324601" y="1066800"/>
            <a:ext cx="5181600" cy="526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dirty="0"/>
              <a:t>Se mide en paralelo</a:t>
            </a:r>
          </a:p>
          <a:p>
            <a:r>
              <a:rPr lang="es-CR" dirty="0"/>
              <a:t>La tensión es la misma en paralelo, para todos los elementos.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0460676-32E6-408D-A499-762F82CDA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763" y="2671687"/>
            <a:ext cx="5629275" cy="33718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FC8120D-34EC-4134-B0E2-3DFD8FCE0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6" y="2928862"/>
            <a:ext cx="4762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01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Señales eléctricas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6422848" cy="3785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/>
              <a:t>Existen 2 tipos principales de señales eléctricas usadas en electrónica:</a:t>
            </a:r>
          </a:p>
          <a:p>
            <a:pPr lvl="1" algn="just">
              <a:lnSpc>
                <a:spcPct val="150000"/>
              </a:lnSpc>
            </a:pPr>
            <a:r>
              <a:rPr lang="es-CR" dirty="0"/>
              <a:t>Analógicas.</a:t>
            </a:r>
          </a:p>
          <a:p>
            <a:pPr lvl="1" algn="just">
              <a:lnSpc>
                <a:spcPct val="150000"/>
              </a:lnSpc>
            </a:pPr>
            <a:r>
              <a:rPr lang="es-CR" dirty="0"/>
              <a:t>Digitales.</a:t>
            </a:r>
          </a:p>
          <a:p>
            <a:pPr lvl="1"/>
            <a:endParaRPr lang="es-CR" dirty="0"/>
          </a:p>
        </p:txBody>
      </p:sp>
      <p:pic>
        <p:nvPicPr>
          <p:cNvPr id="4098" name="Picture 2" descr="Resultado de imagen de señales electrica">
            <a:extLst>
              <a:ext uri="{FF2B5EF4-FFF2-40B4-BE49-F238E27FC236}">
                <a16:creationId xmlns:a16="http://schemas.microsoft.com/office/drawing/2014/main" id="{C1689838-9176-456F-AD97-F7B528AEBF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898" r="24162" b="1475"/>
          <a:stretch/>
        </p:blipFill>
        <p:spPr bwMode="auto">
          <a:xfrm>
            <a:off x="8041042" y="1074056"/>
            <a:ext cx="3666744" cy="185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A69E140-8CBF-4616-AC18-654414E7B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042" y="3429000"/>
            <a:ext cx="3666744" cy="1638300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C9602203-FC40-43C8-9B84-2D217A46131E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CDF73F6-34D2-4C07-BC96-6E38CA14B77C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10" name="Subtítulo 2">
              <a:extLst>
                <a:ext uri="{FF2B5EF4-FFF2-40B4-BE49-F238E27FC236}">
                  <a16:creationId xmlns:a16="http://schemas.microsoft.com/office/drawing/2014/main" id="{8AF948E2-90C7-4237-AFDF-2B1C7BEDAC93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46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Analógicas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305870"/>
            <a:ext cx="6422848" cy="39179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CR" sz="2400" dirty="0"/>
              <a:t>El mundo real es analógico.</a:t>
            </a:r>
          </a:p>
          <a:p>
            <a:pPr>
              <a:lnSpc>
                <a:spcPct val="150000"/>
              </a:lnSpc>
            </a:pPr>
            <a:r>
              <a:rPr lang="es-CR" sz="2400" dirty="0"/>
              <a:t>Pueden tomar valores infinitos entre dos límites.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929D67-4137-4A0A-858C-F1192B9132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85" r="40577"/>
          <a:stretch/>
        </p:blipFill>
        <p:spPr>
          <a:xfrm>
            <a:off x="8041043" y="629266"/>
            <a:ext cx="3388957" cy="2009775"/>
          </a:xfrm>
          <a:prstGeom prst="rect">
            <a:avLst/>
          </a:prstGeom>
        </p:spPr>
      </p:pic>
      <p:sp>
        <p:nvSpPr>
          <p:cNvPr id="4" name="AutoShape 2" descr="Sun, Día, Rayos, Rayos Del Sol">
            <a:extLst>
              <a:ext uri="{FF2B5EF4-FFF2-40B4-BE49-F238E27FC236}">
                <a16:creationId xmlns:a16="http://schemas.microsoft.com/office/drawing/2014/main" id="{5E26597F-6828-4C8C-B868-72AEE5C24C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3FABA8-E1DF-4497-AA63-398B2B745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467" y="2783675"/>
            <a:ext cx="2827894" cy="2963732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A661F411-0351-45A4-AFCC-F894927C8B7F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BFB5ABCB-4FBE-4F14-ACFA-F82BB2D6BD71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11" name="Subtítulo 2">
              <a:extLst>
                <a:ext uri="{FF2B5EF4-FFF2-40B4-BE49-F238E27FC236}">
                  <a16:creationId xmlns:a16="http://schemas.microsoft.com/office/drawing/2014/main" id="{8A9A4ACA-484F-40B9-98EA-A75E58F13EAB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722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410" y="0"/>
            <a:ext cx="4636008" cy="6858000"/>
          </a:xfrm>
          <a:prstGeom prst="rect">
            <a:avLst/>
          </a:prstGeom>
          <a:solidFill>
            <a:srgbClr val="3A8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2" y="484632"/>
            <a:ext cx="3666744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422849" cy="1676603"/>
          </a:xfrm>
        </p:spPr>
        <p:txBody>
          <a:bodyPr>
            <a:normAutofit/>
          </a:bodyPr>
          <a:lstStyle/>
          <a:p>
            <a:r>
              <a:rPr lang="es-CR" dirty="0"/>
              <a:t>Digitales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6422848" cy="3785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/>
              <a:t>Transportan información.</a:t>
            </a:r>
          </a:p>
          <a:p>
            <a:pPr algn="just">
              <a:lnSpc>
                <a:spcPct val="150000"/>
              </a:lnSpc>
            </a:pPr>
            <a:r>
              <a:rPr lang="es-CR" sz="2400" dirty="0"/>
              <a:t>Solo tienen dos estados posibles 0 ó 1.</a:t>
            </a:r>
          </a:p>
        </p:txBody>
      </p:sp>
      <p:pic>
        <p:nvPicPr>
          <p:cNvPr id="3074" name="Picture 2" descr="http://cdns2.freepik.com/free-photo/devices-connected-to-the-cloud_62147502462.jpg">
            <a:extLst>
              <a:ext uri="{FF2B5EF4-FFF2-40B4-BE49-F238E27FC236}">
                <a16:creationId xmlns:a16="http://schemas.microsoft.com/office/drawing/2014/main" id="{B50AA358-CBBE-48DC-978F-E8769783A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2" t="2857" r="6099" b="6283"/>
          <a:stretch/>
        </p:blipFill>
        <p:spPr bwMode="auto">
          <a:xfrm>
            <a:off x="8283393" y="2160126"/>
            <a:ext cx="3182041" cy="238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0FD65E7B-D67A-4C61-A0F6-5C6AC1137545}"/>
              </a:ext>
            </a:extLst>
          </p:cNvPr>
          <p:cNvGrpSpPr/>
          <p:nvPr/>
        </p:nvGrpSpPr>
        <p:grpSpPr>
          <a:xfrm>
            <a:off x="-795111" y="6223819"/>
            <a:ext cx="8495070" cy="904005"/>
            <a:chOff x="-795111" y="6223819"/>
            <a:chExt cx="8495070" cy="90400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D394D4C-1D27-473D-9A7A-4E0412DE41DB}"/>
                </a:ext>
              </a:extLst>
            </p:cNvPr>
            <p:cNvSpPr/>
            <p:nvPr/>
          </p:nvSpPr>
          <p:spPr>
            <a:xfrm>
              <a:off x="-1" y="6223819"/>
              <a:ext cx="7615563" cy="634181"/>
            </a:xfrm>
            <a:prstGeom prst="rect">
              <a:avLst/>
            </a:prstGeom>
            <a:solidFill>
              <a:srgbClr val="3A84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9" name="Subtítulo 2">
              <a:extLst>
                <a:ext uri="{FF2B5EF4-FFF2-40B4-BE49-F238E27FC236}">
                  <a16:creationId xmlns:a16="http://schemas.microsoft.com/office/drawing/2014/main" id="{DE0C52E9-1CBF-492C-95F6-43F3881538DD}"/>
                </a:ext>
              </a:extLst>
            </p:cNvPr>
            <p:cNvSpPr txBox="1">
              <a:spLocks/>
            </p:cNvSpPr>
            <p:nvPr/>
          </p:nvSpPr>
          <p:spPr>
            <a:xfrm>
              <a:off x="-795111" y="6223819"/>
              <a:ext cx="8495070" cy="90400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11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11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17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23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29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34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40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46" indent="0" algn="ctr" defTabSz="914411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R" dirty="0">
                  <a:solidFill>
                    <a:schemeClr val="bg1"/>
                  </a:solidFill>
                </a:rPr>
                <a:t>Ingeniería en Computadores/</a:t>
              </a:r>
              <a:r>
                <a:rPr lang="es-CR" dirty="0" err="1">
                  <a:solidFill>
                    <a:schemeClr val="bg1"/>
                  </a:solidFill>
                </a:rPr>
                <a:t>Computer</a:t>
              </a:r>
              <a:r>
                <a:rPr lang="es-CR" dirty="0">
                  <a:solidFill>
                    <a:schemeClr val="bg1"/>
                  </a:solidFill>
                </a:rPr>
                <a:t> </a:t>
              </a:r>
              <a:r>
                <a:rPr lang="es-CR" dirty="0" err="1">
                  <a:solidFill>
                    <a:schemeClr val="bg1"/>
                  </a:solidFill>
                </a:rPr>
                <a:t>Engineering</a:t>
              </a:r>
              <a:endParaRPr lang="es-CR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4207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F9DAC9-D748-457B-BC92-F4F106178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736" y="640082"/>
            <a:ext cx="4806184" cy="3637373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R" dirty="0"/>
              <a:t>Materiales.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1576A7B-8F1B-4A2E-B2E0-B0ACADF09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5736" y="4415883"/>
            <a:ext cx="4806184" cy="1802038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50" name="Picture 2" descr="http://img.dxcdn.com/productimages/sku_272130_1.jpg">
            <a:extLst>
              <a:ext uri="{FF2B5EF4-FFF2-40B4-BE49-F238E27FC236}">
                <a16:creationId xmlns:a16="http://schemas.microsoft.com/office/drawing/2014/main" id="{A9231DC1-95F1-42C1-AFE0-66FA4FD90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68" y="640081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432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Resultado de imagen de breadboard">
            <a:extLst>
              <a:ext uri="{FF2B5EF4-FFF2-40B4-BE49-F238E27FC236}">
                <a16:creationId xmlns:a16="http://schemas.microsoft.com/office/drawing/2014/main" id="{77F77D13-744B-4353-A2E7-EADD7B142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" r="241" b="1"/>
          <a:stretch/>
        </p:blipFill>
        <p:spPr bwMode="auto">
          <a:xfrm>
            <a:off x="6208978" y="622301"/>
            <a:ext cx="4409491" cy="302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9C972F4-EEC7-405B-8894-C49AD98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R" dirty="0" err="1"/>
              <a:t>Protoboard</a:t>
            </a:r>
            <a:endParaRPr lang="es-CR" dirty="0"/>
          </a:p>
        </p:txBody>
      </p:sp>
      <p:sp>
        <p:nvSpPr>
          <p:cNvPr id="12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r>
              <a:rPr lang="es-CR" sz="2400" dirty="0"/>
              <a:t>Tabla de conexiones para probar circuitos.</a:t>
            </a:r>
          </a:p>
          <a:p>
            <a:r>
              <a:rPr lang="es-CR" sz="2400" dirty="0"/>
              <a:t>No es necesario soldar los circuitos.</a:t>
            </a:r>
          </a:p>
          <a:p>
            <a:endParaRPr lang="en-US" sz="2400" dirty="0"/>
          </a:p>
          <a:p>
            <a:endParaRPr lang="en-US" sz="2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E8E00C9-54D6-4A9B-A18B-CF7119294B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896" t="48671" r="33722" b="20648"/>
          <a:stretch/>
        </p:blipFill>
        <p:spPr>
          <a:xfrm rot="5400000">
            <a:off x="7209963" y="3658755"/>
            <a:ext cx="2407520" cy="26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3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captura de pantalla&#10;&#10;Descripción generada con confianza alta">
            <a:extLst>
              <a:ext uri="{FF2B5EF4-FFF2-40B4-BE49-F238E27FC236}">
                <a16:creationId xmlns:a16="http://schemas.microsoft.com/office/drawing/2014/main" id="{3A802F07-6D1E-473B-87A3-863E7C2AA5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41" b="-1848"/>
          <a:stretch/>
        </p:blipFill>
        <p:spPr>
          <a:xfrm>
            <a:off x="5120640" y="1275347"/>
            <a:ext cx="6233160" cy="541421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9C972F4-EEC7-405B-8894-C49AD98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R" dirty="0"/>
              <a:t>Resistencia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pPr algn="just"/>
            <a:r>
              <a:rPr lang="es-CR" sz="2400" dirty="0"/>
              <a:t>Para conocer su valor se utiliza un código de colores.</a:t>
            </a:r>
          </a:p>
        </p:txBody>
      </p:sp>
    </p:spTree>
    <p:extLst>
      <p:ext uri="{BB962C8B-B14F-4D97-AF65-F5344CB8AC3E}">
        <p14:creationId xmlns:p14="http://schemas.microsoft.com/office/powerpoint/2010/main" val="3985402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C972F4-EEC7-405B-8894-C49AD98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R"/>
              <a:t>Potenciometro</a:t>
            </a:r>
            <a:endParaRPr lang="es-CR" dirty="0"/>
          </a:p>
        </p:txBody>
      </p:sp>
      <p:sp>
        <p:nvSpPr>
          <p:cNvPr id="12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r>
              <a:rPr lang="es-CR" sz="2000" dirty="0"/>
              <a:t>Es una resistencia que puede variar su valor.</a:t>
            </a:r>
          </a:p>
          <a:p>
            <a:r>
              <a:rPr lang="es-CR" sz="2000" dirty="0"/>
              <a:t>El valor varía entre la terminal del medio y las de los costados.</a:t>
            </a:r>
          </a:p>
          <a:p>
            <a:r>
              <a:rPr lang="es-CR" sz="2000" dirty="0"/>
              <a:t>El valor máximo es igual al medido entre las pastillas de los lados.</a:t>
            </a:r>
          </a:p>
        </p:txBody>
      </p:sp>
      <p:pic>
        <p:nvPicPr>
          <p:cNvPr id="5122" name="Picture 2" descr="Resultado de imagen de potenciometro">
            <a:extLst>
              <a:ext uri="{FF2B5EF4-FFF2-40B4-BE49-F238E27FC236}">
                <a16:creationId xmlns:a16="http://schemas.microsoft.com/office/drawing/2014/main" id="{20E29662-7A4D-400D-A5D9-5A4987520A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66"/>
          <a:stretch/>
        </p:blipFill>
        <p:spPr bwMode="auto">
          <a:xfrm>
            <a:off x="7061200" y="449263"/>
            <a:ext cx="4292600" cy="575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5D26AC4-842A-4E00-B37D-36E429016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90" t="13014" b="4338"/>
          <a:stretch/>
        </p:blipFill>
        <p:spPr>
          <a:xfrm>
            <a:off x="6096000" y="2665413"/>
            <a:ext cx="1281112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81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C972F4-EEC7-405B-8894-C49AD98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R" dirty="0"/>
              <a:t>Botón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r>
              <a:rPr lang="es-CR" sz="2400" dirty="0"/>
              <a:t>Existe dos tipos de botones:</a:t>
            </a:r>
          </a:p>
          <a:p>
            <a:pPr lvl="1"/>
            <a:r>
              <a:rPr lang="es-CR" sz="2000" dirty="0"/>
              <a:t>Normalmente cerrado</a:t>
            </a:r>
          </a:p>
          <a:p>
            <a:pPr lvl="1"/>
            <a:r>
              <a:rPr lang="es-CR" sz="2000" dirty="0"/>
              <a:t>Normalmente abierto</a:t>
            </a:r>
          </a:p>
          <a:p>
            <a:r>
              <a:rPr lang="es-CR" sz="2400" dirty="0"/>
              <a:t>Usar </a:t>
            </a:r>
            <a:r>
              <a:rPr lang="es-CR" sz="2400" dirty="0" err="1"/>
              <a:t>pull</a:t>
            </a:r>
            <a:r>
              <a:rPr lang="es-CR" sz="2400" dirty="0"/>
              <a:t>-up o </a:t>
            </a:r>
            <a:r>
              <a:rPr lang="es-CR" sz="2400" dirty="0" err="1"/>
              <a:t>pull-down</a:t>
            </a:r>
            <a:r>
              <a:rPr lang="es-CR" sz="2400" dirty="0"/>
              <a:t> para lectura de botones.</a:t>
            </a:r>
          </a:p>
          <a:p>
            <a:pPr marL="0" indent="0">
              <a:buNone/>
            </a:pPr>
            <a:endParaRPr lang="es-CR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0D0DF09-2C21-4D90-91A5-313F27166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225425"/>
            <a:ext cx="4191000" cy="24447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F9F7FA-689B-4E5B-8EAF-66D357BF5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809876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99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C972F4-EEC7-405B-8894-C49AD98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R" dirty="0"/>
              <a:t>Diodo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r>
              <a:rPr lang="es-ES" sz="2000" dirty="0"/>
              <a:t>Semiconductor que permite la corriente eléctrica en una sola dirección</a:t>
            </a:r>
            <a:r>
              <a:rPr lang="es-CR" sz="2000" dirty="0"/>
              <a:t>.</a:t>
            </a:r>
            <a:endParaRPr lang="es-ES" sz="2000" dirty="0"/>
          </a:p>
        </p:txBody>
      </p:sp>
      <p:pic>
        <p:nvPicPr>
          <p:cNvPr id="5" name="Shape 209" descr="http://panamahitek.com/wp-content/uploads/2013/05/diodo_real-300x243.jpg">
            <a:extLst>
              <a:ext uri="{FF2B5EF4-FFF2-40B4-BE49-F238E27FC236}">
                <a16:creationId xmlns:a16="http://schemas.microsoft.com/office/drawing/2014/main" id="{ACA9E279-0F6F-454F-B103-325029BA7C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8622" y="1825625"/>
            <a:ext cx="28575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210" descr="http://www.electronicoscaldas.com/225-thickbox_default/diodo-1n4007.jpg">
            <a:extLst>
              <a:ext uri="{FF2B5EF4-FFF2-40B4-BE49-F238E27FC236}">
                <a16:creationId xmlns:a16="http://schemas.microsoft.com/office/drawing/2014/main" id="{CA4ADBE5-5C0E-4B57-AC27-9865FCADFC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794" t="38722" r="11514" b="33784"/>
          <a:stretch/>
        </p:blipFill>
        <p:spPr>
          <a:xfrm>
            <a:off x="6485654" y="4605741"/>
            <a:ext cx="4211392" cy="15712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1865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contenido 1"/>
          <p:cNvPicPr>
            <a:picLocks noChangeAspect="1"/>
          </p:cNvPicPr>
          <p:nvPr/>
        </p:nvPicPr>
        <p:blipFill rotWithShape="1">
          <a:blip r:embed="rId2"/>
          <a:srcRect l="1087" t="2" r="4245"/>
          <a:stretch/>
        </p:blipFill>
        <p:spPr>
          <a:xfrm>
            <a:off x="5120640" y="1904282"/>
            <a:ext cx="6233160" cy="427268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9C972F4-EEC7-405B-8894-C49AD98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R" dirty="0"/>
              <a:t>Diodo Emisor de Luz (LED)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3797807" cy="4351338"/>
          </a:xfrm>
        </p:spPr>
        <p:txBody>
          <a:bodyPr>
            <a:normAutofit/>
          </a:bodyPr>
          <a:lstStyle/>
          <a:p>
            <a:r>
              <a:rPr lang="es-CR" sz="2000" dirty="0"/>
              <a:t>Permite el paso de corriente en una sola dirección.</a:t>
            </a:r>
          </a:p>
          <a:p>
            <a:r>
              <a:rPr lang="es-CR" sz="2000" dirty="0"/>
              <a:t>Elemento que emite luz al aplicar corriente.</a:t>
            </a:r>
          </a:p>
        </p:txBody>
      </p:sp>
    </p:spTree>
    <p:extLst>
      <p:ext uri="{BB962C8B-B14F-4D97-AF65-F5344CB8AC3E}">
        <p14:creationId xmlns:p14="http://schemas.microsoft.com/office/powerpoint/2010/main" val="1387669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B558F58E-93BA-44A3-BCDA-585AFF2E4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13">
            <a:extLst>
              <a:ext uri="{FF2B5EF4-FFF2-40B4-BE49-F238E27FC236}">
                <a16:creationId xmlns:a16="http://schemas.microsoft.com/office/drawing/2014/main" id="{BCD0BBC1-A7D4-445D-98AC-95A6A45D8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1148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CFDB9FDD-2671-4E8A-B5AD-2A5AE574A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2542" r="11715" b="-32463"/>
          <a:stretch/>
        </p:blipFill>
        <p:spPr>
          <a:xfrm>
            <a:off x="5913124" y="10"/>
            <a:ext cx="6278877" cy="685799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75935C-1F7A-45EB-B5AD-34771576C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320" y="2671011"/>
            <a:ext cx="5257803" cy="2427120"/>
          </a:xfrm>
        </p:spPr>
        <p:txBody>
          <a:bodyPr anchor="t">
            <a:normAutofit/>
          </a:bodyPr>
          <a:lstStyle/>
          <a:p>
            <a:pPr algn="l"/>
            <a:r>
              <a:rPr lang="es-CR" sz="5600" dirty="0"/>
              <a:t>Buenas prácticas de soldadura</a:t>
            </a:r>
          </a:p>
        </p:txBody>
      </p:sp>
    </p:spTree>
    <p:extLst>
      <p:ext uri="{BB962C8B-B14F-4D97-AF65-F5344CB8AC3E}">
        <p14:creationId xmlns:p14="http://schemas.microsoft.com/office/powerpoint/2010/main" val="4160265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A2BB0CE-AF6F-46C8-829E-EFE2FFAAD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74" t="-37998" r="-1" b="-2916"/>
          <a:stretch/>
        </p:blipFill>
        <p:spPr>
          <a:xfrm>
            <a:off x="6358597" y="694685"/>
            <a:ext cx="5833403" cy="5037886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s-CR" dirty="0"/>
              <a:t>Cautín o Soldador</a:t>
            </a:r>
          </a:p>
        </p:txBody>
      </p:sp>
      <p:sp>
        <p:nvSpPr>
          <p:cNvPr id="3086" name="Content Placeholder 3082"/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s-CR" sz="1800" dirty="0"/>
              <a:t>Punta fina</a:t>
            </a:r>
          </a:p>
          <a:p>
            <a:r>
              <a:rPr lang="es-CR" sz="1800" dirty="0"/>
              <a:t>Evitar golpear las puntas</a:t>
            </a:r>
          </a:p>
          <a:p>
            <a:r>
              <a:rPr lang="es-CR" sz="1800" dirty="0"/>
              <a:t>Se debe limpiar las punta antes de soldar de nuevo un componente (no de forma brusca)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2555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estaÃ±o">
            <a:extLst>
              <a:ext uri="{FF2B5EF4-FFF2-40B4-BE49-F238E27FC236}">
                <a16:creationId xmlns:a16="http://schemas.microsoft.com/office/drawing/2014/main" id="{86DFA766-3A65-4256-BD08-9472D19478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" r="5316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s-CR" dirty="0" err="1"/>
              <a:t>oldadura</a:t>
            </a:r>
            <a:r>
              <a:rPr lang="es-CR" dirty="0"/>
              <a:t> estaño</a:t>
            </a:r>
            <a:r>
              <a:rPr lang="en-US" dirty="0"/>
              <a:t>/</a:t>
            </a:r>
            <a:r>
              <a:rPr lang="en-US" dirty="0" err="1"/>
              <a:t>plomo</a:t>
            </a:r>
            <a:endParaRPr lang="es-CR" dirty="0"/>
          </a:p>
        </p:txBody>
      </p:sp>
      <p:sp>
        <p:nvSpPr>
          <p:cNvPr id="3086" name="Content Placeholder 3082"/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s-CR" sz="1800" dirty="0"/>
              <a:t>Debe brillar, no puede verse negruzco u opaco</a:t>
            </a:r>
          </a:p>
          <a:p>
            <a:r>
              <a:rPr lang="es-CR" sz="1800" dirty="0"/>
              <a:t>Soldadura de electrónica es 60% estaño y 40% plomo</a:t>
            </a:r>
          </a:p>
          <a:p>
            <a:r>
              <a:rPr lang="es-CR" sz="1800" dirty="0"/>
              <a:t>El interior esta hueco y contiene resina que actuará como decapante con el calor (flux)</a:t>
            </a:r>
          </a:p>
          <a:p>
            <a:r>
              <a:rPr lang="es-CR" sz="1800" dirty="0"/>
              <a:t>Es recomendable (aunque no estrictamente necesario) usar flux por aparte</a:t>
            </a:r>
          </a:p>
          <a:p>
            <a:r>
              <a:rPr lang="es-CR" sz="1800" dirty="0"/>
              <a:t>Evitar Humos tóxicos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92587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B78E9247-06B7-4168-9D6F-E9C669E482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14" r="373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053BA22-2107-441D-B21B-BE33A5A4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s-CR" dirty="0"/>
              <a:t>Placa </a:t>
            </a:r>
            <a:r>
              <a:rPr lang="es-CR" dirty="0" err="1"/>
              <a:t>preperforada</a:t>
            </a: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A4880B-28FF-4FBC-BCDA-E40BBD875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s-CR" sz="3200" dirty="0"/>
              <a:t>No tocar con la mano.</a:t>
            </a:r>
          </a:p>
          <a:p>
            <a:r>
              <a:rPr lang="es-CR" sz="3200" dirty="0"/>
              <a:t>El material sobre el cobre es baquelita, y es aislante.</a:t>
            </a:r>
          </a:p>
          <a:p>
            <a:r>
              <a:rPr lang="es-CR" sz="3200" dirty="0"/>
              <a:t>No sobrecalentar las donas de cobre.</a:t>
            </a:r>
          </a:p>
          <a:p>
            <a:endParaRPr lang="es-CR" sz="1800" dirty="0"/>
          </a:p>
        </p:txBody>
      </p:sp>
    </p:spTree>
    <p:extLst>
      <p:ext uri="{BB962C8B-B14F-4D97-AF65-F5344CB8AC3E}">
        <p14:creationId xmlns:p14="http://schemas.microsoft.com/office/powerpoint/2010/main" val="2125927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Resultado de imagen de soldadura electronica">
            <a:extLst>
              <a:ext uri="{FF2B5EF4-FFF2-40B4-BE49-F238E27FC236}">
                <a16:creationId xmlns:a16="http://schemas.microsoft.com/office/drawing/2014/main" id="{65BBA902-2A5D-4333-A3A0-5EE0B7BE98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85" t="-31390" r="-4011" b="-76126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1A2E4D1-0BF8-4A01-B052-8D6C6E6FA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 fontScale="90000"/>
          </a:bodyPr>
          <a:lstStyle/>
          <a:p>
            <a:r>
              <a:rPr lang="es-CR" dirty="0"/>
              <a:t>Pasos para soldar un componente a una placa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2FE583-D7E7-4C47-9C1C-61F3DF4F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endParaRPr lang="es-CR" sz="1800" dirty="0"/>
          </a:p>
        </p:txBody>
      </p:sp>
    </p:spTree>
    <p:extLst>
      <p:ext uri="{BB962C8B-B14F-4D97-AF65-F5344CB8AC3E}">
        <p14:creationId xmlns:p14="http://schemas.microsoft.com/office/powerpoint/2010/main" val="1748788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Resultado de imagen de soldadura electronica">
            <a:extLst>
              <a:ext uri="{FF2B5EF4-FFF2-40B4-BE49-F238E27FC236}">
                <a16:creationId xmlns:a16="http://schemas.microsoft.com/office/drawing/2014/main" id="{BC7E51B6-39AB-4F16-A766-405BDE7DD8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55" t="-35256" r="-2122" b="-128068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7D1E28-15DA-423E-948B-E543F81E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s-CR" dirty="0"/>
              <a:t>Como debe quedar la soldadura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F3DA63-BBC1-4EBA-B30B-F7D9EEE6F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endParaRPr lang="es-CR" sz="1800"/>
          </a:p>
        </p:txBody>
      </p:sp>
    </p:spTree>
    <p:extLst>
      <p:ext uri="{BB962C8B-B14F-4D97-AF65-F5344CB8AC3E}">
        <p14:creationId xmlns:p14="http://schemas.microsoft.com/office/powerpoint/2010/main" val="294810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Rectangle 310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86AD8F3-A622-4773-9B89-93664A7F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736" y="640082"/>
            <a:ext cx="4806184" cy="3637373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Plataforma Arduino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A94322-EF87-4372-BA59-AF250E8E7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5736" y="4415883"/>
            <a:ext cx="4806184" cy="1802038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BFF36C-27E2-4FE7-8D5F-384AB766D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96" y="1378953"/>
            <a:ext cx="6014750" cy="409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52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¿Qué es Arduino?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Plataforma de desarrollo.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Hardware y software fácil de usar 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Entradas y salidas programables.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”Open </a:t>
            </a:r>
            <a:r>
              <a:rPr lang="es-CR" sz="2400" dirty="0" err="1">
                <a:solidFill>
                  <a:srgbClr val="FFFFFF"/>
                </a:solidFill>
              </a:rPr>
              <a:t>Source</a:t>
            </a:r>
            <a:r>
              <a:rPr lang="es-CR" sz="2400" dirty="0">
                <a:solidFill>
                  <a:srgbClr val="FFFFFF"/>
                </a:solidFill>
              </a:rPr>
              <a:t>.”</a:t>
            </a:r>
          </a:p>
          <a:p>
            <a:pPr algn="just">
              <a:lnSpc>
                <a:spcPct val="150000"/>
              </a:lnSpc>
            </a:pPr>
            <a:endParaRPr lang="es-CR" sz="2400" dirty="0">
              <a:solidFill>
                <a:srgbClr val="FFFFFF"/>
              </a:solidFill>
            </a:endParaRPr>
          </a:p>
        </p:txBody>
      </p:sp>
      <p:sp>
        <p:nvSpPr>
          <p:cNvPr id="4" name="AutoShape 2" descr="Imagen relacionada">
            <a:extLst>
              <a:ext uri="{FF2B5EF4-FFF2-40B4-BE49-F238E27FC236}">
                <a16:creationId xmlns:a16="http://schemas.microsoft.com/office/drawing/2014/main" id="{E052D810-13DA-4015-A21D-9ACC4EB94E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1030" name="Picture 6" descr="http://smartduinos.com/wp-content/uploads/2015/12/1450814877_maxresdefault.jpg">
            <a:extLst>
              <a:ext uri="{FF2B5EF4-FFF2-40B4-BE49-F238E27FC236}">
                <a16:creationId xmlns:a16="http://schemas.microsoft.com/office/drawing/2014/main" id="{A8540D46-486A-413D-8FB0-769946B5D7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1" t="37285" r="18060" b="-47"/>
          <a:stretch/>
        </p:blipFill>
        <p:spPr bwMode="auto">
          <a:xfrm>
            <a:off x="7110769" y="1313415"/>
            <a:ext cx="4940203" cy="430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200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850" y="585217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Distribuciones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Algunos tipos de Arduino:</a:t>
            </a:r>
          </a:p>
          <a:p>
            <a:pPr lvl="1" algn="just">
              <a:lnSpc>
                <a:spcPct val="150000"/>
              </a:lnSpc>
            </a:pPr>
            <a:r>
              <a:rPr lang="es-CR" dirty="0">
                <a:solidFill>
                  <a:srgbClr val="FFFFFF"/>
                </a:solidFill>
              </a:rPr>
              <a:t>Uno, Mega, Yun, </a:t>
            </a:r>
            <a:r>
              <a:rPr lang="es-CR" dirty="0" err="1">
                <a:solidFill>
                  <a:srgbClr val="FFFFFF"/>
                </a:solidFill>
              </a:rPr>
              <a:t>Due</a:t>
            </a:r>
            <a:r>
              <a:rPr lang="es-CR" dirty="0">
                <a:solidFill>
                  <a:srgbClr val="FFFFFF"/>
                </a:solidFill>
              </a:rPr>
              <a:t>, Nano, Leonardo, etc.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75C07E-910F-47F7-87AD-5ACA93CA0E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31" r="5154"/>
          <a:stretch/>
        </p:blipFill>
        <p:spPr>
          <a:xfrm>
            <a:off x="7110769" y="585217"/>
            <a:ext cx="4862458" cy="45624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26AD64-F688-4C42-B456-A744CDB9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769" y="1485676"/>
            <a:ext cx="4910302" cy="345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31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165D956-7C05-4FEA-9964-D17642C6CA5F}"/>
              </a:ext>
            </a:extLst>
          </p:cNvPr>
          <p:cNvSpPr/>
          <p:nvPr/>
        </p:nvSpPr>
        <p:spPr>
          <a:xfrm>
            <a:off x="0" y="-86439"/>
            <a:ext cx="3498209" cy="7279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DDD2B0-853B-4D1E-A01E-A1DE1D17CD05}"/>
              </a:ext>
            </a:extLst>
          </p:cNvPr>
          <p:cNvSpPr txBox="1"/>
          <p:nvPr/>
        </p:nvSpPr>
        <p:spPr>
          <a:xfrm>
            <a:off x="291516" y="597500"/>
            <a:ext cx="2915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Alternativas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EC505D-8BD0-481A-AD19-E3E39A6A4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743" y="427808"/>
            <a:ext cx="2475594" cy="24755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377CDFC-B19D-42D4-A469-3FE87D911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213" y="140064"/>
            <a:ext cx="2291767" cy="229176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95652A9-2AEC-4713-99EC-B821C6BF2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292" y="3911820"/>
            <a:ext cx="2688734" cy="19803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C84FC0E-28C9-400C-95B5-F5E1CDA5E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180" y="3911820"/>
            <a:ext cx="2291767" cy="229176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89422BC-2CFE-4ACB-95B4-A3776C3AEEE8}"/>
              </a:ext>
            </a:extLst>
          </p:cNvPr>
          <p:cNvSpPr txBox="1"/>
          <p:nvPr/>
        </p:nvSpPr>
        <p:spPr>
          <a:xfrm>
            <a:off x="4273276" y="2598108"/>
            <a:ext cx="2818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err="1"/>
              <a:t>NodeMCU</a:t>
            </a:r>
            <a:r>
              <a:rPr lang="es-CR" dirty="0"/>
              <a:t> (ESP8266EX)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1092A6-DC9C-492B-B465-66A2ED21C7BC}"/>
              </a:ext>
            </a:extLst>
          </p:cNvPr>
          <p:cNvSpPr txBox="1"/>
          <p:nvPr/>
        </p:nvSpPr>
        <p:spPr>
          <a:xfrm>
            <a:off x="10045729" y="2534070"/>
            <a:ext cx="96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STM32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C6A165-8084-4CAD-B533-5FF2BFD77E0A}"/>
              </a:ext>
            </a:extLst>
          </p:cNvPr>
          <p:cNvSpPr txBox="1"/>
          <p:nvPr/>
        </p:nvSpPr>
        <p:spPr>
          <a:xfrm>
            <a:off x="10041622" y="5892145"/>
            <a:ext cx="1795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err="1"/>
              <a:t>Teensy</a:t>
            </a:r>
            <a:endParaRPr lang="es-CR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D33B0ED-0A50-49EF-946A-9307151C4060}"/>
              </a:ext>
            </a:extLst>
          </p:cNvPr>
          <p:cNvSpPr txBox="1"/>
          <p:nvPr/>
        </p:nvSpPr>
        <p:spPr>
          <a:xfrm>
            <a:off x="5545123" y="5956183"/>
            <a:ext cx="229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err="1"/>
              <a:t>Launchpad</a:t>
            </a:r>
            <a:endParaRPr lang="es-C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149EEA-87D9-44B0-9F0E-8D69ECD36F8D}"/>
              </a:ext>
            </a:extLst>
          </p:cNvPr>
          <p:cNvSpPr txBox="1"/>
          <p:nvPr/>
        </p:nvSpPr>
        <p:spPr>
          <a:xfrm>
            <a:off x="367677" y="1665605"/>
            <a:ext cx="2762851" cy="3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R" sz="1600" dirty="0">
                <a:solidFill>
                  <a:schemeClr val="bg1"/>
                </a:solidFill>
              </a:rPr>
              <a:t>Arduino no es la única plataforma de desarrollo. Existen varias y poderosas alternativas que pueden resultar más útiles en ciertos usos. Algunas incluso permiten usar el mismo IDE de Arduino para ser programadas</a:t>
            </a:r>
          </a:p>
        </p:txBody>
      </p:sp>
      <p:pic>
        <p:nvPicPr>
          <p:cNvPr id="1026" name="Picture 2" descr="Resultado de imagen para Psoc">
            <a:extLst>
              <a:ext uri="{FF2B5EF4-FFF2-40B4-BE49-F238E27FC236}">
                <a16:creationId xmlns:a16="http://schemas.microsoft.com/office/drawing/2014/main" id="{2724189F-91AE-4418-9E8A-53C96B40C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229" y="1929706"/>
            <a:ext cx="2014058" cy="151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B9E765D-0C30-4D4E-BE54-190CCDE196FB}"/>
              </a:ext>
            </a:extLst>
          </p:cNvPr>
          <p:cNvSpPr txBox="1"/>
          <p:nvPr/>
        </p:nvSpPr>
        <p:spPr>
          <a:xfrm>
            <a:off x="7836890" y="3244334"/>
            <a:ext cx="96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err="1"/>
              <a:t>PSoC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918829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entradas arduino">
            <a:extLst>
              <a:ext uri="{FF2B5EF4-FFF2-40B4-BE49-F238E27FC236}">
                <a16:creationId xmlns:a16="http://schemas.microsoft.com/office/drawing/2014/main" id="{69C419D8-6E99-47A4-B17D-33FB539DF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16216" y="1740724"/>
            <a:ext cx="4629191" cy="33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060" y="585216"/>
            <a:ext cx="5062511" cy="1499616"/>
          </a:xfrm>
        </p:spPr>
        <p:txBody>
          <a:bodyPr>
            <a:normAutofit/>
          </a:bodyPr>
          <a:lstStyle/>
          <a:p>
            <a:pPr algn="just"/>
            <a:r>
              <a:rPr lang="es-CR" dirty="0">
                <a:solidFill>
                  <a:srgbClr val="FFFFFF"/>
                </a:solidFill>
              </a:rPr>
              <a:t>Arduino UNO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Puerto USB tipo B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Uno lógico 5v; Cero lógico 0v.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Comunicación serial.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13 pines digitales y 6 analógicos.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6 pines de PWM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Pines 0 y 1 </a:t>
            </a:r>
            <a:r>
              <a:rPr lang="es-CR" sz="2400" dirty="0" err="1">
                <a:solidFill>
                  <a:srgbClr val="FFFFFF"/>
                </a:solidFill>
              </a:rPr>
              <a:t>RxTx</a:t>
            </a:r>
            <a:r>
              <a:rPr lang="es-CR" sz="24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6413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IDE Arduino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Ambiente de programación.</a:t>
            </a:r>
          </a:p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Versión en línea.</a:t>
            </a:r>
          </a:p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Se compone de:</a:t>
            </a:r>
          </a:p>
          <a:p>
            <a:pPr lvl="1">
              <a:lnSpc>
                <a:spcPct val="120000"/>
              </a:lnSpc>
            </a:pPr>
            <a:r>
              <a:rPr lang="es-CR" sz="2000" dirty="0">
                <a:solidFill>
                  <a:srgbClr val="FFFFFF"/>
                </a:solidFill>
              </a:rPr>
              <a:t>Botón para validar.</a:t>
            </a:r>
          </a:p>
          <a:p>
            <a:pPr lvl="1">
              <a:lnSpc>
                <a:spcPct val="120000"/>
              </a:lnSpc>
            </a:pPr>
            <a:r>
              <a:rPr lang="es-CR" sz="2000" dirty="0">
                <a:solidFill>
                  <a:srgbClr val="FFFFFF"/>
                </a:solidFill>
              </a:rPr>
              <a:t>Botón para cargar.</a:t>
            </a:r>
          </a:p>
          <a:p>
            <a:pPr lvl="1">
              <a:lnSpc>
                <a:spcPct val="120000"/>
              </a:lnSpc>
            </a:pPr>
            <a:r>
              <a:rPr lang="es-CR" sz="2000" dirty="0">
                <a:solidFill>
                  <a:srgbClr val="FFFFFF"/>
                </a:solidFill>
              </a:rPr>
              <a:t>Monitor serial.</a:t>
            </a:r>
          </a:p>
          <a:p>
            <a:pPr lvl="1">
              <a:lnSpc>
                <a:spcPct val="120000"/>
              </a:lnSpc>
            </a:pPr>
            <a:r>
              <a:rPr lang="es-CR" sz="2000" dirty="0">
                <a:solidFill>
                  <a:srgbClr val="FFFFFF"/>
                </a:solidFill>
              </a:rPr>
              <a:t>Espacio para codificar.</a:t>
            </a:r>
          </a:p>
          <a:p>
            <a:pPr lvl="1">
              <a:lnSpc>
                <a:spcPct val="120000"/>
              </a:lnSpc>
            </a:pPr>
            <a:r>
              <a:rPr lang="es-CR" sz="2000" dirty="0">
                <a:solidFill>
                  <a:srgbClr val="FFFFFF"/>
                </a:solidFill>
              </a:rPr>
              <a:t>Consola.</a:t>
            </a:r>
          </a:p>
          <a:p>
            <a:pPr>
              <a:lnSpc>
                <a:spcPct val="150000"/>
              </a:lnSpc>
            </a:pPr>
            <a:endParaRPr lang="es-CR" sz="2000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endParaRPr lang="es-CR" sz="2000" dirty="0">
              <a:solidFill>
                <a:srgbClr val="FFFFFF"/>
              </a:solidFill>
            </a:endParaRPr>
          </a:p>
        </p:txBody>
      </p:sp>
      <p:sp>
        <p:nvSpPr>
          <p:cNvPr id="4" name="AutoShape 2" descr="Resultado de imagen de ide arduino">
            <a:extLst>
              <a:ext uri="{FF2B5EF4-FFF2-40B4-BE49-F238E27FC236}">
                <a16:creationId xmlns:a16="http://schemas.microsoft.com/office/drawing/2014/main" id="{719E5EC6-1F7A-4016-AA4C-67F44F761C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92BC4E-73E6-4A2C-A4B2-5A214EA56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" t="1527" r="1258" b="-202"/>
          <a:stretch/>
        </p:blipFill>
        <p:spPr>
          <a:xfrm>
            <a:off x="7332617" y="585217"/>
            <a:ext cx="4591430" cy="5629861"/>
          </a:xfrm>
          <a:prstGeom prst="rect">
            <a:avLst/>
          </a:prstGeom>
        </p:spPr>
      </p:pic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79650BC6-0800-47E0-B728-6E7B1C720CC0}"/>
              </a:ext>
            </a:extLst>
          </p:cNvPr>
          <p:cNvSpPr/>
          <p:nvPr/>
        </p:nvSpPr>
        <p:spPr>
          <a:xfrm rot="13530819">
            <a:off x="7301949" y="3117387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AA3721BE-1D2F-4AF7-8B9A-E809BEE025B1}"/>
              </a:ext>
            </a:extLst>
          </p:cNvPr>
          <p:cNvSpPr/>
          <p:nvPr/>
        </p:nvSpPr>
        <p:spPr>
          <a:xfrm rot="10800000">
            <a:off x="7427339" y="5969418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 dirty="0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367CD1BF-3F74-4D04-B55E-6516E3129177}"/>
              </a:ext>
            </a:extLst>
          </p:cNvPr>
          <p:cNvSpPr/>
          <p:nvPr/>
        </p:nvSpPr>
        <p:spPr>
          <a:xfrm>
            <a:off x="7584289" y="468839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A5358655-9525-4165-895F-BE2487A938ED}"/>
              </a:ext>
            </a:extLst>
          </p:cNvPr>
          <p:cNvSpPr/>
          <p:nvPr/>
        </p:nvSpPr>
        <p:spPr>
          <a:xfrm rot="16200000">
            <a:off x="11026378" y="932415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E251F0F3-7567-4D84-ADFB-A9C8580F1872}"/>
              </a:ext>
            </a:extLst>
          </p:cNvPr>
          <p:cNvSpPr/>
          <p:nvPr/>
        </p:nvSpPr>
        <p:spPr>
          <a:xfrm rot="13530819">
            <a:off x="7058968" y="1228362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0059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IDE Arduino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Se debe seleccionar el puerto y tarjeta que se van a utilizar.</a:t>
            </a:r>
          </a:p>
          <a:p>
            <a:pPr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Incluye ejemplos funcionales.</a:t>
            </a:r>
          </a:p>
          <a:p>
            <a:pPr algn="just">
              <a:lnSpc>
                <a:spcPct val="150000"/>
              </a:lnSpc>
            </a:pPr>
            <a:endParaRPr lang="es-CR" sz="2000" dirty="0">
              <a:solidFill>
                <a:srgbClr val="FFFFFF"/>
              </a:solidFill>
            </a:endParaRPr>
          </a:p>
        </p:txBody>
      </p:sp>
      <p:sp>
        <p:nvSpPr>
          <p:cNvPr id="4" name="AutoShape 2" descr="Resultado de imagen de ide arduino">
            <a:extLst>
              <a:ext uri="{FF2B5EF4-FFF2-40B4-BE49-F238E27FC236}">
                <a16:creationId xmlns:a16="http://schemas.microsoft.com/office/drawing/2014/main" id="{719E5EC6-1F7A-4016-AA4C-67F44F761C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3BA6BE-347A-4A7D-B199-222FED502E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80" t="12031" r="15900" b="5257"/>
          <a:stretch/>
        </p:blipFill>
        <p:spPr>
          <a:xfrm>
            <a:off x="7302326" y="871237"/>
            <a:ext cx="4633452" cy="5115526"/>
          </a:xfrm>
          <a:prstGeom prst="rect">
            <a:avLst/>
          </a:prstGeom>
        </p:spPr>
      </p:pic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F68A2B12-25E4-4D06-842B-1365011CF340}"/>
              </a:ext>
            </a:extLst>
          </p:cNvPr>
          <p:cNvSpPr/>
          <p:nvPr/>
        </p:nvSpPr>
        <p:spPr>
          <a:xfrm>
            <a:off x="7584289" y="468839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21733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pic>
        <p:nvPicPr>
          <p:cNvPr id="4" name="Imagen 3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EA3CD6CE-CF64-4335-8A49-E007C9A3EF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3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54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Monitor serial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s-CR" sz="2000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</a:pPr>
            <a:endParaRPr lang="es-CR" sz="2000" dirty="0">
              <a:solidFill>
                <a:srgbClr val="FFFFFF"/>
              </a:solidFill>
            </a:endParaRPr>
          </a:p>
        </p:txBody>
      </p:sp>
      <p:sp>
        <p:nvSpPr>
          <p:cNvPr id="4" name="AutoShape 2" descr="Resultado de imagen de ide arduino">
            <a:extLst>
              <a:ext uri="{FF2B5EF4-FFF2-40B4-BE49-F238E27FC236}">
                <a16:creationId xmlns:a16="http://schemas.microsoft.com/office/drawing/2014/main" id="{719E5EC6-1F7A-4016-AA4C-67F44F761C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B75B56-A940-4B02-9BF5-C53882B0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0" y="1389454"/>
            <a:ext cx="5124450" cy="3448050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8F03B4CE-4CDD-4CD6-B17E-C49D5F3DD771}"/>
              </a:ext>
            </a:extLst>
          </p:cNvPr>
          <p:cNvSpPr txBox="1">
            <a:spLocks/>
          </p:cNvSpPr>
          <p:nvPr/>
        </p:nvSpPr>
        <p:spPr>
          <a:xfrm>
            <a:off x="1176529" y="24384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Leer un puerto serial.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Enviar mensajes por el puerto serial.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Seleccionar la velocidad.</a:t>
            </a:r>
          </a:p>
          <a:p>
            <a:pPr algn="just">
              <a:lnSpc>
                <a:spcPct val="150000"/>
              </a:lnSpc>
            </a:pPr>
            <a:endParaRPr lang="es-CR" sz="2400" dirty="0">
              <a:solidFill>
                <a:srgbClr val="FFFFFF"/>
              </a:solidFill>
            </a:endParaRP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F72439B8-902B-4762-AE1C-7273EB4194B1}"/>
              </a:ext>
            </a:extLst>
          </p:cNvPr>
          <p:cNvSpPr/>
          <p:nvPr/>
        </p:nvSpPr>
        <p:spPr>
          <a:xfrm>
            <a:off x="11474117" y="3913041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BD7070D9-37C8-4A4D-8D0A-7E07BF020108}"/>
              </a:ext>
            </a:extLst>
          </p:cNvPr>
          <p:cNvSpPr/>
          <p:nvPr/>
        </p:nvSpPr>
        <p:spPr>
          <a:xfrm rot="16200000">
            <a:off x="11071508" y="1651024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55169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Estructura básica de un código Arduino.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Está compuesto por 3 partes básicas:</a:t>
            </a:r>
          </a:p>
          <a:p>
            <a:pPr lvl="1"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Variables globales.</a:t>
            </a:r>
          </a:p>
          <a:p>
            <a:pPr lvl="1"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Función Set-Up</a:t>
            </a:r>
          </a:p>
          <a:p>
            <a:pPr lvl="1"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Función </a:t>
            </a:r>
            <a:r>
              <a:rPr lang="es-CR" sz="2000" dirty="0" err="1">
                <a:solidFill>
                  <a:srgbClr val="FFFFFF"/>
                </a:solidFill>
              </a:rPr>
              <a:t>Loop</a:t>
            </a:r>
            <a:endParaRPr lang="es-CR" sz="2000" dirty="0">
              <a:solidFill>
                <a:srgbClr val="FFFFFF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s-CR" sz="2000" dirty="0">
              <a:solidFill>
                <a:srgbClr val="FFFFFF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CDF2C-B69F-446D-856E-A1F160223DEA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09089A-7FE1-4A22-AD0F-89638CB81656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85512E-6FBD-4FFF-A8E6-979EB93688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9"/>
          <a:stretch/>
        </p:blipFill>
        <p:spPr>
          <a:xfrm>
            <a:off x="7094309" y="614363"/>
            <a:ext cx="5097691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30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Variables globales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Se declaran las variables que se van a utilizar. Algunos tipos son:</a:t>
            </a:r>
          </a:p>
          <a:p>
            <a:pPr lvl="1"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Banderas</a:t>
            </a:r>
          </a:p>
          <a:p>
            <a:pPr lvl="1"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Pines</a:t>
            </a:r>
          </a:p>
          <a:p>
            <a:pPr lvl="1" algn="just">
              <a:lnSpc>
                <a:spcPct val="150000"/>
              </a:lnSpc>
            </a:pPr>
            <a:r>
              <a:rPr lang="es-CR" sz="2000" dirty="0">
                <a:solidFill>
                  <a:srgbClr val="FFFFFF"/>
                </a:solidFill>
              </a:rPr>
              <a:t>Constantes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CDF2C-B69F-446D-856E-A1F160223DEA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09089A-7FE1-4A22-AD0F-89638CB81656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85512E-6FBD-4FFF-A8E6-979EB93688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2" r="29753" b="35110"/>
          <a:stretch/>
        </p:blipFill>
        <p:spPr>
          <a:xfrm>
            <a:off x="7190825" y="1112941"/>
            <a:ext cx="4611331" cy="463211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E36ABF4-2031-4587-A53B-6E6EE50967AE}"/>
              </a:ext>
            </a:extLst>
          </p:cNvPr>
          <p:cNvSpPr/>
          <p:nvPr/>
        </p:nvSpPr>
        <p:spPr>
          <a:xfrm>
            <a:off x="7190824" y="1930400"/>
            <a:ext cx="4488092" cy="1473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85026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Set-Up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855971" cy="39319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Método que se ejecuta una primera vez.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Configura el Arduino.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Inicializa la comunicación serial.</a:t>
            </a:r>
          </a:p>
          <a:p>
            <a:pPr algn="just"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Establecer los pines de entrada y salida.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CDF2C-B69F-446D-856E-A1F160223DEA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09089A-7FE1-4A22-AD0F-89638CB81656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85512E-6FBD-4FFF-A8E6-979EB93688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9" t="20009" r="32391" b="23629"/>
          <a:stretch/>
        </p:blipFill>
        <p:spPr>
          <a:xfrm>
            <a:off x="7203525" y="1715325"/>
            <a:ext cx="4462691" cy="415207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1CBD639-2F66-4C4F-B8CF-02DEB6E1B44C}"/>
              </a:ext>
            </a:extLst>
          </p:cNvPr>
          <p:cNvSpPr/>
          <p:nvPr/>
        </p:nvSpPr>
        <p:spPr>
          <a:xfrm>
            <a:off x="7000324" y="2650868"/>
            <a:ext cx="4488092" cy="15562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77484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 err="1">
                <a:solidFill>
                  <a:srgbClr val="FFFFFF"/>
                </a:solidFill>
              </a:rPr>
              <a:t>Loop</a:t>
            </a:r>
            <a:endParaRPr lang="es-CR" dirty="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Función que se ejecuta después del Set-Up y se repite mientras el Arduino esté encendido.</a:t>
            </a:r>
          </a:p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Es recomendable agregar un </a:t>
            </a:r>
            <a:r>
              <a:rPr lang="es-CR" sz="2400" dirty="0" err="1">
                <a:solidFill>
                  <a:srgbClr val="FFFFFF"/>
                </a:solidFill>
              </a:rPr>
              <a:t>delay</a:t>
            </a:r>
            <a:r>
              <a:rPr lang="es-CR" sz="2400" dirty="0">
                <a:solidFill>
                  <a:srgbClr val="FFFFFF"/>
                </a:solidFill>
              </a:rPr>
              <a:t>, si el código no lo incluye, de 10ms.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CDF2C-B69F-446D-856E-A1F160223DEA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09089A-7FE1-4A22-AD0F-89638CB81656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85512E-6FBD-4FFF-A8E6-979EB93688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5" t="38342" r="31164" b="3687"/>
          <a:stretch/>
        </p:blipFill>
        <p:spPr>
          <a:xfrm>
            <a:off x="7110770" y="939800"/>
            <a:ext cx="4916131" cy="4610099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1323586-E1F1-4543-8AFA-BE16856DCCC0}"/>
              </a:ext>
            </a:extLst>
          </p:cNvPr>
          <p:cNvSpPr/>
          <p:nvPr/>
        </p:nvSpPr>
        <p:spPr>
          <a:xfrm>
            <a:off x="6974116" y="1956316"/>
            <a:ext cx="4488092" cy="33147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41182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Funciones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Encapsulados de código.</a:t>
            </a:r>
          </a:p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Pueden ser llamados.</a:t>
            </a:r>
          </a:p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Son tipados.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CDF2C-B69F-446D-856E-A1F160223DEA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09089A-7FE1-4A22-AD0F-89638CB81656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8AAC00-B9E6-4F6E-B865-A37DCB90BB36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2C19AA7-297B-4036-8BB8-6897190B0D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13" t="43528" r="32500" b="31658"/>
          <a:stretch/>
        </p:blipFill>
        <p:spPr>
          <a:xfrm>
            <a:off x="7035694" y="2286000"/>
            <a:ext cx="5156306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883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98">
            <a:extLst>
              <a:ext uri="{FF2B5EF4-FFF2-40B4-BE49-F238E27FC236}">
                <a16:creationId xmlns:a16="http://schemas.microsoft.com/office/drawing/2014/main" id="{6FBDFA86-51D3-4729-B154-7969183728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F1CE7C6-BE91-42A7-9214-F33FD918C386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FDE7D33-D943-4DE6-BEF9-FDB7003D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Cargar código al Arduino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5B67F-2BA9-4ED6-A0AD-B38838B8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El código se compila.</a:t>
            </a:r>
          </a:p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Se transforma a unos y ceros, y se quema en el Arduino.</a:t>
            </a:r>
          </a:p>
          <a:p>
            <a:pPr>
              <a:lnSpc>
                <a:spcPct val="150000"/>
              </a:lnSpc>
            </a:pPr>
            <a:r>
              <a:rPr lang="es-CR" sz="2400" dirty="0">
                <a:solidFill>
                  <a:srgbClr val="FFFFFF"/>
                </a:solidFill>
              </a:rPr>
              <a:t>Si hay un error se verá en la consola.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7CCDF2C-B69F-446D-856E-A1F160223DEA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09089A-7FE1-4A22-AD0F-89638CB81656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691C595-3B44-4DD6-ACC6-57506D339B38}"/>
              </a:ext>
            </a:extLst>
          </p:cNvPr>
          <p:cNvSpPr/>
          <p:nvPr/>
        </p:nvSpPr>
        <p:spPr>
          <a:xfrm>
            <a:off x="5977217" y="3244335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/>
              <a:t>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77DEFFB-E088-4090-872F-5747691B5B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732" t="22275" r="13134" b="9314"/>
          <a:stretch/>
        </p:blipFill>
        <p:spPr>
          <a:xfrm>
            <a:off x="6999990" y="541283"/>
            <a:ext cx="4996393" cy="5799865"/>
          </a:xfrm>
          <a:prstGeom prst="rect">
            <a:avLst/>
          </a:prstGeom>
        </p:spPr>
      </p:pic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B6127C38-B609-4197-B8CC-48EAA374FA6F}"/>
              </a:ext>
            </a:extLst>
          </p:cNvPr>
          <p:cNvSpPr/>
          <p:nvPr/>
        </p:nvSpPr>
        <p:spPr>
          <a:xfrm>
            <a:off x="7333318" y="580664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F49C4474-F1E9-4F73-A66D-21F4132863E5}"/>
              </a:ext>
            </a:extLst>
          </p:cNvPr>
          <p:cNvSpPr/>
          <p:nvPr/>
        </p:nvSpPr>
        <p:spPr>
          <a:xfrm>
            <a:off x="7235429" y="4251961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FE85F1B3-5C28-49BD-82C9-6493D812630C}"/>
              </a:ext>
            </a:extLst>
          </p:cNvPr>
          <p:cNvSpPr/>
          <p:nvPr/>
        </p:nvSpPr>
        <p:spPr>
          <a:xfrm>
            <a:off x="10870362" y="4145005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040E9161-CA28-46AB-99C7-8D12DA34ED4B}"/>
              </a:ext>
            </a:extLst>
          </p:cNvPr>
          <p:cNvSpPr/>
          <p:nvPr/>
        </p:nvSpPr>
        <p:spPr>
          <a:xfrm rot="10800000">
            <a:off x="7319118" y="5578019"/>
            <a:ext cx="313899" cy="491319"/>
          </a:xfrm>
          <a:prstGeom prst="downArrow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833333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513048A-0C40-4B3D-A6F2-89F4954974C5}"/>
              </a:ext>
            </a:extLst>
          </p:cNvPr>
          <p:cNvSpPr/>
          <p:nvPr/>
        </p:nvSpPr>
        <p:spPr>
          <a:xfrm>
            <a:off x="-117446" y="-109057"/>
            <a:ext cx="4697835" cy="7139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9DE934-E86B-4669-952D-FCF965B32429}"/>
              </a:ext>
            </a:extLst>
          </p:cNvPr>
          <p:cNvSpPr txBox="1"/>
          <p:nvPr/>
        </p:nvSpPr>
        <p:spPr>
          <a:xfrm>
            <a:off x="226503" y="336629"/>
            <a:ext cx="4697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Conviene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buscar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 err="1">
                <a:solidFill>
                  <a:schemeClr val="bg1"/>
                </a:solidFill>
              </a:rPr>
              <a:t>informaci</a:t>
            </a:r>
            <a:r>
              <a:rPr lang="es-CR" sz="3600" dirty="0" err="1">
                <a:solidFill>
                  <a:schemeClr val="bg1"/>
                </a:solidFill>
              </a:rPr>
              <a:t>ón</a:t>
            </a:r>
            <a:r>
              <a:rPr lang="es-CR" sz="3600" dirty="0">
                <a:solidFill>
                  <a:schemeClr val="bg1"/>
                </a:solidFill>
              </a:rPr>
              <a:t> sobre: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E75C71-DB71-42E6-BE75-993FEB937156}"/>
              </a:ext>
            </a:extLst>
          </p:cNvPr>
          <p:cNvSpPr txBox="1"/>
          <p:nvPr/>
        </p:nvSpPr>
        <p:spPr>
          <a:xfrm>
            <a:off x="4714613" y="336629"/>
            <a:ext cx="64119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Drivers de motor y variedades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Convertidores DC-DC y reguladores de voltaje lineales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Protocolos de comunicación (SPI, I2C, </a:t>
            </a:r>
            <a:r>
              <a:rPr lang="es-CR" sz="2400" dirty="0" err="1"/>
              <a:t>etc</a:t>
            </a:r>
            <a:r>
              <a:rPr lang="es-CR" sz="2400" dirty="0"/>
              <a:t>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9B8F54-41EB-4217-91E3-519F1A5F7475}"/>
              </a:ext>
            </a:extLst>
          </p:cNvPr>
          <p:cNvSpPr txBox="1"/>
          <p:nvPr/>
        </p:nvSpPr>
        <p:spPr>
          <a:xfrm>
            <a:off x="226503" y="2643387"/>
            <a:ext cx="46978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000" dirty="0">
                <a:solidFill>
                  <a:schemeClr val="bg1"/>
                </a:solidFill>
              </a:rPr>
              <a:t>Herramientas </a:t>
            </a:r>
          </a:p>
          <a:p>
            <a:r>
              <a:rPr lang="es-CR" sz="4000" dirty="0">
                <a:solidFill>
                  <a:schemeClr val="bg1"/>
                </a:solidFill>
              </a:rPr>
              <a:t>adicionales: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34D527-E2C7-4C42-BD6E-C98D4607FB9D}"/>
              </a:ext>
            </a:extLst>
          </p:cNvPr>
          <p:cNvSpPr txBox="1"/>
          <p:nvPr/>
        </p:nvSpPr>
        <p:spPr>
          <a:xfrm>
            <a:off x="4714613" y="2643387"/>
            <a:ext cx="697544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 err="1"/>
              <a:t>Tinkercad</a:t>
            </a:r>
            <a:r>
              <a:rPr lang="es-CR" sz="2400" dirty="0"/>
              <a:t> (Página para prototipado):</a:t>
            </a:r>
          </a:p>
          <a:p>
            <a:r>
              <a:rPr lang="es-CR" sz="2400" dirty="0">
                <a:hlinkClick r:id="rId2"/>
              </a:rPr>
              <a:t>https://www.tinkercad.com</a:t>
            </a:r>
            <a:endParaRPr lang="es-CR" sz="2400" dirty="0"/>
          </a:p>
          <a:p>
            <a:r>
              <a:rPr lang="es-CR" sz="2400" dirty="0"/>
              <a:t>Ejercicios que pueden hacer en </a:t>
            </a:r>
            <a:r>
              <a:rPr lang="es-CR" sz="2400" dirty="0" err="1"/>
              <a:t>Tinkercad</a:t>
            </a:r>
            <a:endParaRPr lang="es-CR" sz="2400" dirty="0"/>
          </a:p>
          <a:p>
            <a:pPr marL="342900" indent="-342900">
              <a:buFontTx/>
              <a:buChar char="-"/>
            </a:pPr>
            <a:r>
              <a:rPr lang="es-CR" sz="2400" dirty="0"/>
              <a:t>Crear un </a:t>
            </a:r>
            <a:r>
              <a:rPr lang="es-CR" sz="2400" dirty="0" err="1"/>
              <a:t>switch</a:t>
            </a:r>
            <a:r>
              <a:rPr lang="es-CR" sz="2400" dirty="0"/>
              <a:t> lógico (transistor)</a:t>
            </a:r>
          </a:p>
          <a:p>
            <a:pPr marL="342900" indent="-342900">
              <a:buFontTx/>
              <a:buChar char="-"/>
            </a:pPr>
            <a:r>
              <a:rPr lang="es-CR" sz="2400" dirty="0"/>
              <a:t>Utilizar un driver de motor</a:t>
            </a:r>
          </a:p>
          <a:p>
            <a:pPr marL="342900" indent="-342900">
              <a:buFontTx/>
              <a:buChar char="-"/>
            </a:pPr>
            <a:r>
              <a:rPr lang="es-CR" sz="2400" dirty="0"/>
              <a:t>Probar si un circuito puede quemar un componente (led, integrado, </a:t>
            </a:r>
            <a:r>
              <a:rPr lang="es-CR" sz="2400" dirty="0" err="1"/>
              <a:t>etc</a:t>
            </a:r>
            <a:r>
              <a:rPr lang="es-CR" sz="2400" dirty="0"/>
              <a:t>)</a:t>
            </a:r>
          </a:p>
          <a:p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 err="1"/>
              <a:t>Falstad</a:t>
            </a:r>
            <a:r>
              <a:rPr lang="es-CR" sz="2400" dirty="0"/>
              <a:t> </a:t>
            </a:r>
            <a:r>
              <a:rPr lang="es-CR" sz="2400" dirty="0" err="1"/>
              <a:t>Circuit</a:t>
            </a:r>
            <a:r>
              <a:rPr lang="es-CR" sz="2400" dirty="0"/>
              <a:t> Simulator:</a:t>
            </a:r>
          </a:p>
          <a:p>
            <a:r>
              <a:rPr lang="es-CR" sz="2400" dirty="0">
                <a:hlinkClick r:id="rId3"/>
              </a:rPr>
              <a:t>https://www.falstad.com/circuit/</a:t>
            </a: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3200" dirty="0"/>
          </a:p>
        </p:txBody>
      </p:sp>
    </p:spTree>
    <p:extLst>
      <p:ext uri="{BB962C8B-B14F-4D97-AF65-F5344CB8AC3E}">
        <p14:creationId xmlns:p14="http://schemas.microsoft.com/office/powerpoint/2010/main" val="23504486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50318599-425B-4A32-BE3D-ECE23FEE9AA9}"/>
              </a:ext>
            </a:extLst>
          </p:cNvPr>
          <p:cNvSpPr/>
          <p:nvPr/>
        </p:nvSpPr>
        <p:spPr>
          <a:xfrm>
            <a:off x="10352015" y="-75501"/>
            <a:ext cx="2181137" cy="7113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219C2E2-7490-403B-9D4A-FF9D36E3FE5C}"/>
              </a:ext>
            </a:extLst>
          </p:cNvPr>
          <p:cNvSpPr/>
          <p:nvPr/>
        </p:nvSpPr>
        <p:spPr>
          <a:xfrm>
            <a:off x="-125835" y="-75501"/>
            <a:ext cx="12558319" cy="20888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D86429-6D64-463B-8345-F94748328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2131313"/>
            <a:ext cx="10515600" cy="4045649"/>
          </a:xfrm>
        </p:spPr>
        <p:txBody>
          <a:bodyPr>
            <a:normAutofit lnSpcReduction="10000"/>
          </a:bodyPr>
          <a:lstStyle/>
          <a:p>
            <a:r>
              <a:rPr lang="es-CR" dirty="0" err="1"/>
              <a:t>Afrotechmods</a:t>
            </a:r>
            <a:r>
              <a:rPr lang="es-CR" dirty="0"/>
              <a:t> </a:t>
            </a:r>
          </a:p>
          <a:p>
            <a:pPr marL="0" indent="0">
              <a:buNone/>
            </a:pPr>
            <a:r>
              <a:rPr lang="es-CR" dirty="0">
                <a:hlinkClick r:id="rId2"/>
              </a:rPr>
              <a:t>https://www.youtube.com/user/Afrotechmods</a:t>
            </a:r>
            <a:endParaRPr lang="es-CR" dirty="0"/>
          </a:p>
          <a:p>
            <a:r>
              <a:rPr lang="es-CR" dirty="0" err="1"/>
              <a:t>GreatScott</a:t>
            </a:r>
            <a:r>
              <a:rPr lang="es-CR" dirty="0"/>
              <a:t> </a:t>
            </a:r>
          </a:p>
          <a:p>
            <a:pPr marL="0" indent="0">
              <a:buNone/>
            </a:pPr>
            <a:r>
              <a:rPr lang="es-CR" dirty="0">
                <a:hlinkClick r:id="rId3"/>
              </a:rPr>
              <a:t>https://www.youtube.com/user/greatscottlab</a:t>
            </a:r>
            <a:endParaRPr lang="es-CR" dirty="0"/>
          </a:p>
          <a:p>
            <a:r>
              <a:rPr lang="es-CR" dirty="0" err="1"/>
              <a:t>ElectroBOOM</a:t>
            </a:r>
            <a:r>
              <a:rPr lang="es-CR" dirty="0"/>
              <a:t> </a:t>
            </a:r>
          </a:p>
          <a:p>
            <a:pPr marL="0" indent="0">
              <a:buNone/>
            </a:pPr>
            <a:r>
              <a:rPr lang="es-CR" dirty="0">
                <a:hlinkClick r:id="rId4"/>
              </a:rPr>
              <a:t>https://www.youtube.com/user/msadaghd</a:t>
            </a:r>
            <a:endParaRPr lang="es-CR" dirty="0"/>
          </a:p>
          <a:p>
            <a:r>
              <a:rPr lang="es-CR" dirty="0" err="1"/>
              <a:t>SparkFun</a:t>
            </a:r>
            <a:r>
              <a:rPr lang="es-CR" dirty="0"/>
              <a:t> </a:t>
            </a:r>
            <a:r>
              <a:rPr lang="es-CR" dirty="0" err="1"/>
              <a:t>Electronics</a:t>
            </a:r>
            <a:r>
              <a:rPr lang="es-CR" dirty="0"/>
              <a:t> </a:t>
            </a:r>
          </a:p>
          <a:p>
            <a:pPr marL="0" indent="0">
              <a:buNone/>
            </a:pPr>
            <a:r>
              <a:rPr lang="es-CR" dirty="0">
                <a:hlinkClick r:id="rId5"/>
              </a:rPr>
              <a:t>https://www.youtube.com/user/sparkfun</a:t>
            </a:r>
            <a:endParaRPr lang="es-C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8CF6261-F882-45DF-BF47-3E0C7C17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>
                <a:solidFill>
                  <a:schemeClr val="bg1"/>
                </a:solidFill>
              </a:rPr>
              <a:t>Recomendaciones para tutoriales</a:t>
            </a:r>
            <a:r>
              <a:rPr lang="en-US" dirty="0">
                <a:solidFill>
                  <a:schemeClr val="bg1"/>
                </a:solidFill>
              </a:rPr>
              <a:t>/material de apoyo</a:t>
            </a:r>
            <a:endParaRPr lang="es-C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0844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905BA41-EE6E-4F80-8636-447F22DD729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7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D7549B2-EE05-4558-8C64-AC46755F2B2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>
            <a:solidFill>
              <a:srgbClr val="06CC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Resultado de imagen de arduino">
            <a:extLst>
              <a:ext uri="{FF2B5EF4-FFF2-40B4-BE49-F238E27FC236}">
                <a16:creationId xmlns:a16="http://schemas.microsoft.com/office/drawing/2014/main" id="{3004F8A0-AB02-4756-966F-CE30CF6FA7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37115" y="1453414"/>
            <a:ext cx="1517772" cy="101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62F8659-1BBB-4B2B-9C12-DD1B4DE68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465" y="3254036"/>
            <a:ext cx="8495070" cy="1784402"/>
          </a:xfrm>
        </p:spPr>
        <p:txBody>
          <a:bodyPr anchor="b">
            <a:normAutofit/>
          </a:bodyPr>
          <a:lstStyle/>
          <a:p>
            <a:r>
              <a:rPr lang="es-CR" dirty="0">
                <a:solidFill>
                  <a:srgbClr val="FFFFFF"/>
                </a:solidFill>
              </a:rPr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11132741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272"/>
      </a:accent1>
      <a:accent2>
        <a:srgbClr val="ED7D31"/>
      </a:accent2>
      <a:accent3>
        <a:srgbClr val="A5A5A5"/>
      </a:accent3>
      <a:accent4>
        <a:srgbClr val="FFC000"/>
      </a:accent4>
      <a:accent5>
        <a:srgbClr val="008080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4786</TotalTime>
  <Words>1221</Words>
  <Application>Microsoft Office PowerPoint</Application>
  <PresentationFormat>Panorámica</PresentationFormat>
  <Paragraphs>212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Tema de Office</vt:lpstr>
      <vt:lpstr>Taller de Arduino y Electrónica básica: Parte Teórica</vt:lpstr>
      <vt:lpstr>Conceptos Básicos de Electrónica</vt:lpstr>
      <vt:lpstr>Corriente Eléctrica</vt:lpstr>
      <vt:lpstr>Tensión eléctrica</vt:lpstr>
      <vt:lpstr>Resistencia</vt:lpstr>
      <vt:lpstr>Código de colores</vt:lpstr>
      <vt:lpstr>Ley de Ohm</vt:lpstr>
      <vt:lpstr>Potencia eléctrica</vt:lpstr>
      <vt:lpstr>Modelos de flujo de corriente</vt:lpstr>
      <vt:lpstr>Presentación de PowerPoint</vt:lpstr>
      <vt:lpstr>Presentación de PowerPoint</vt:lpstr>
      <vt:lpstr>Señales eléctricas</vt:lpstr>
      <vt:lpstr>Analógicas</vt:lpstr>
      <vt:lpstr>Digitales</vt:lpstr>
      <vt:lpstr>Materiales.</vt:lpstr>
      <vt:lpstr>Protoboard</vt:lpstr>
      <vt:lpstr>Resistencia</vt:lpstr>
      <vt:lpstr>Potenciometro</vt:lpstr>
      <vt:lpstr>Botón</vt:lpstr>
      <vt:lpstr>Diodo</vt:lpstr>
      <vt:lpstr>Diodo Emisor de Luz (LED)</vt:lpstr>
      <vt:lpstr>Buenas prácticas de soldadura</vt:lpstr>
      <vt:lpstr>Cautín o Soldador</vt:lpstr>
      <vt:lpstr>Soldadura estaño/plomo</vt:lpstr>
      <vt:lpstr>Placa preperforada</vt:lpstr>
      <vt:lpstr>Pasos para soldar un componente a una placa</vt:lpstr>
      <vt:lpstr>Como debe quedar la soldadura</vt:lpstr>
      <vt:lpstr>Plataforma Arduino</vt:lpstr>
      <vt:lpstr>¿Qué es Arduino?</vt:lpstr>
      <vt:lpstr>Distribuciones</vt:lpstr>
      <vt:lpstr>Presentación de PowerPoint</vt:lpstr>
      <vt:lpstr>Arduino UNO</vt:lpstr>
      <vt:lpstr>IDE Arduino</vt:lpstr>
      <vt:lpstr>IDE Arduino</vt:lpstr>
      <vt:lpstr>Presentación de PowerPoint</vt:lpstr>
      <vt:lpstr>Monitor serial</vt:lpstr>
      <vt:lpstr>Estructura básica de un código Arduino.</vt:lpstr>
      <vt:lpstr>Variables globales</vt:lpstr>
      <vt:lpstr>Set-Up</vt:lpstr>
      <vt:lpstr>Loop</vt:lpstr>
      <vt:lpstr>Funciones</vt:lpstr>
      <vt:lpstr>Cargar código al Arduino</vt:lpstr>
      <vt:lpstr>Presentación de PowerPoint</vt:lpstr>
      <vt:lpstr>Recomendaciones para tutoriales/material de apoyo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Santii</dc:creator>
  <cp:lastModifiedBy>Jose</cp:lastModifiedBy>
  <cp:revision>29</cp:revision>
  <dcterms:created xsi:type="dcterms:W3CDTF">2017-09-16T00:57:44Z</dcterms:created>
  <dcterms:modified xsi:type="dcterms:W3CDTF">2019-10-08T05:27:31Z</dcterms:modified>
</cp:coreProperties>
</file>